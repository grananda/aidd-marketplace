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16A9C7"/>
                </a:solidFill>
                <a:latin typeface="Arial"/>
              </a:defRPr>
            </a:pPr>
            <a:r>
              <a:t>NTT DATA SPAIN · GDN-e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1381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8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Native AI ya no es solo un método para construir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046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0">
                <a:solidFill>
                  <a:srgbClr val="C6D6E3"/>
                </a:solidFill>
                <a:latin typeface="Arial"/>
              </a:defRPr>
            </a:pPr>
            <a:r>
              <a:t>Es un sistema operativo de entrega: conecta lo que pide el cliente, lo que construye el equipo y la evidencia con la que se decide.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658368"/>
            <a:ext cx="2487168" cy="5230368"/>
          </a:xfrm>
          <a:prstGeom prst="roundRect">
            <a:avLst/>
          </a:prstGeom>
          <a:solidFill>
            <a:srgbClr val="143B59"/>
          </a:solidFill>
          <a:ln w="12700">
            <a:solidFill>
              <a:srgbClr val="2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54312" y="1078992"/>
            <a:ext cx="512064" cy="512064"/>
          </a:xfrm>
          <a:prstGeom prst="ellipse">
            <a:avLst/>
          </a:prstGeom>
          <a:solidFill>
            <a:srgbClr val="DCEEF8"/>
          </a:solidFill>
          <a:ln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4312" y="1097280"/>
            <a:ext cx="5120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0072B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0112" y="1143000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ESPECIFICAR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10344" y="1645919"/>
            <a:ext cx="1828" cy="731519"/>
          </a:xfrm>
          <a:prstGeom prst="rect">
            <a:avLst/>
          </a:prstGeom>
          <a:solidFill>
            <a:srgbClr val="4B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54312" y="2523744"/>
            <a:ext cx="512064" cy="512064"/>
          </a:xfrm>
          <a:prstGeom prst="ellipse">
            <a:avLst/>
          </a:prstGeom>
          <a:solidFill>
            <a:srgbClr val="DDF2EE"/>
          </a:solidFill>
          <a:ln>
            <a:solidFill>
              <a:srgbClr val="DD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542032"/>
            <a:ext cx="5120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008F8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2587751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ENTREGAR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10344" y="3090672"/>
            <a:ext cx="1828" cy="731519"/>
          </a:xfrm>
          <a:prstGeom prst="rect">
            <a:avLst/>
          </a:prstGeom>
          <a:solidFill>
            <a:srgbClr val="4B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54312" y="3968496"/>
            <a:ext cx="512064" cy="512064"/>
          </a:xfrm>
          <a:prstGeom prst="ellipse">
            <a:avLst/>
          </a:prstGeom>
          <a:solidFill>
            <a:srgbClr val="FCE9DC"/>
          </a:solidFill>
          <a:ln>
            <a:solidFill>
              <a:srgbClr val="FC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3986783"/>
            <a:ext cx="5120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E8792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2" y="4032504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MEDIR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901952" cy="384048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1" y="5047488"/>
            <a:ext cx="17556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8"/>
              </a:spcAft>
              <a:defRPr sz="819" b="1">
                <a:solidFill>
                  <a:srgbClr val="FFFFFF"/>
                </a:solidFill>
                <a:latin typeface="Arial"/>
              </a:defRPr>
            </a:pPr>
            <a:r>
              <a:t>RESUMEN EJECUTIVO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AFC2D1"/>
                </a:solidFill>
                <a:latin typeface="Arial"/>
              </a:defRPr>
            </a:pPr>
            <a:r>
              <a:t>Evolución de Native AI · metodología original → marketplace v1.46.1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A9B4BE"/>
                </a:solidFill>
                <a:latin typeface="Arial"/>
              </a:defRPr>
            </a:pPr>
            <a:r>
              <a:t>Comparativa verificada sobre metodología v2.0, native-ai-specs v1.6.0 y marketplace v1.46.1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A9B4BE"/>
                </a:solidFill>
                <a:latin typeface="Arial"/>
              </a:defRPr>
            </a:pPr>
            <a: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La evolución cabe 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El núcleo no cambió. Cambió la distancia que recorre.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12724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PUNTO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9192"/>
            <a:ext cx="26060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76"/>
              </a:spcAft>
              <a:defRPr sz="2300" b="1">
                <a:solidFill>
                  <a:srgbClr val="17324D"/>
                </a:solidFill>
                <a:latin typeface="Arial"/>
              </a:defRPr>
            </a:pPr>
            <a:r>
              <a:t>Especificar antes de implementar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254203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1"/>
              </a:spcAft>
              <a:defRPr sz="1100" b="0">
                <a:solidFill>
                  <a:srgbClr val="3F556A"/>
                </a:solidFill>
                <a:latin typeface="Arial"/>
              </a:defRPr>
            </a:pPr>
            <a:r>
              <a:t>OpenSpec, pre-flight humano, changes pequeños y auditoría: el método resolvía la deriva entre requisitos y código.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04487" y="3182112"/>
            <a:ext cx="1078992" cy="475488"/>
          </a:xfrm>
          <a:prstGeom prst="rightArrow">
            <a:avLst/>
          </a:prstGeom>
          <a:solidFill>
            <a:srgbClr val="E87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3794760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E8792E"/>
                </a:solidFill>
                <a:latin typeface="Arial"/>
              </a:defRPr>
            </a:pPr>
            <a:r>
              <a:t>EXTENDER</a:t>
            </a:r>
          </a:p>
          <a:p>
            <a:pPr algn="ctr">
              <a:spcAft>
                <a:spcPts val="96"/>
              </a:spcAft>
              <a:defRPr sz="800" b="1">
                <a:solidFill>
                  <a:srgbClr val="E8792E"/>
                </a:solidFill>
                <a:latin typeface="Arial"/>
              </a:defRPr>
            </a:pPr>
            <a:r>
              <a:t>SIN ROMPER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965960"/>
            <a:ext cx="6382512" cy="3429000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16A9C7"/>
                </a:solidFill>
                <a:latin typeface="Arial"/>
              </a:defRPr>
            </a:pPr>
            <a:r>
              <a:t>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679192"/>
            <a:ext cx="5440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Una cadena completa de entrega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3858768"/>
            <a:ext cx="1097280" cy="384048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3877055"/>
            <a:ext cx="9509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CLIENTE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56831" y="3968496"/>
            <a:ext cx="219456" cy="146304"/>
          </a:xfrm>
          <a:prstGeom prst="rightArrow">
            <a:avLst/>
          </a:prstGeom>
          <a:solidFill>
            <a:srgbClr val="729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22008" y="3858768"/>
            <a:ext cx="1097280" cy="384048"/>
          </a:xfrm>
          <a:prstGeom prst="round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877055"/>
            <a:ext cx="9509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DISEÑO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46720" y="3968496"/>
            <a:ext cx="219456" cy="146304"/>
          </a:xfrm>
          <a:prstGeom prst="rightArrow">
            <a:avLst/>
          </a:prstGeom>
          <a:solidFill>
            <a:srgbClr val="729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11896" y="3858768"/>
            <a:ext cx="1097280" cy="384048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877055"/>
            <a:ext cx="9509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CÓDIGO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36608" y="3968496"/>
            <a:ext cx="219456" cy="146304"/>
          </a:xfrm>
          <a:prstGeom prst="rightArrow">
            <a:avLst/>
          </a:prstGeom>
          <a:solidFill>
            <a:srgbClr val="729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01784" y="3858768"/>
            <a:ext cx="1097280" cy="384048"/>
          </a:xfrm>
          <a:prstGeom prst="round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3877055"/>
            <a:ext cx="9509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EVIDENCIA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49884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1"/>
              </a:spcAft>
              <a:defRPr sz="1100" b="0">
                <a:solidFill>
                  <a:srgbClr val="C6D6E3"/>
                </a:solidFill>
                <a:latin typeface="Arial"/>
              </a:defRPr>
            </a:pPr>
            <a:r>
              <a:t>La misma fuente de verdad llega hasta el entregable que se firma y el KPI que se defiende.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27664" cy="512064"/>
          </a:xfrm>
          <a:prstGeom prst="roundRect">
            <a:avLst/>
          </a:prstGeom>
          <a:solidFill>
            <a:srgbClr val="FCE9DC"/>
          </a:solidFill>
          <a:ln w="12700">
            <a:solidFill>
              <a:srgbClr val="FC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69864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TESIS  ·  No es otro método con el mismo nombre: es el mismo principio llevado a los extremos donde un proyecto real lo necesita.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El salto, medido sobre los artefactos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Cinco indicadores de superficie, cobertura e industrialización. Ninguno es una estimación.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2066543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865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27"/>
              </a:spcAft>
              <a:defRPr sz="1900" b="1">
                <a:solidFill>
                  <a:srgbClr val="A9B4B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316736" y="2523744"/>
            <a:ext cx="411480" cy="173736"/>
          </a:xfrm>
          <a:prstGeom prst="rightArrow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2350008"/>
            <a:ext cx="7132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76"/>
              </a:spcAft>
              <a:defRPr sz="2300" b="1">
                <a:solidFill>
                  <a:srgbClr val="0072BC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6265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PARTIDA  →  HOY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1965960"/>
            <a:ext cx="2066543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21031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COMANDOS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865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27"/>
              </a:spcAft>
              <a:defRPr sz="1900" b="1">
                <a:solidFill>
                  <a:srgbClr val="A9B4B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0439" y="2523744"/>
            <a:ext cx="411480" cy="173736"/>
          </a:xfrm>
          <a:prstGeom prst="rightArrow">
            <a:avLst/>
          </a:prstGeom>
          <a:solidFill>
            <a:srgbClr val="16A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350008"/>
            <a:ext cx="7132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76"/>
              </a:spcAft>
              <a:defRPr sz="2300" b="1">
                <a:solidFill>
                  <a:srgbClr val="16A9C7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296265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PARTIDA  →  HOY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1965960"/>
            <a:ext cx="2066543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21031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FASES CON HERRAMIENTA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3865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27"/>
              </a:spcAft>
              <a:defRPr sz="1900" b="1">
                <a:solidFill>
                  <a:srgbClr val="A9B4BE"/>
                </a:solidFill>
                <a:latin typeface="Arial"/>
              </a:defRPr>
            </a:pPr>
            <a:r>
              <a:t>3/8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24144" y="2523744"/>
            <a:ext cx="411480" cy="173736"/>
          </a:xfrm>
          <a:prstGeom prst="rightArrow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350008"/>
            <a:ext cx="7132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76"/>
              </a:spcAft>
              <a:defRPr sz="2300" b="1">
                <a:solidFill>
                  <a:srgbClr val="008F83"/>
                </a:solidFill>
                <a:latin typeface="Arial"/>
              </a:defRPr>
            </a:pPr>
            <a:r>
              <a:t>8/8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96265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PARTIDA  →  HOY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965960"/>
            <a:ext cx="2066543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1" y="21031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TOPOLOGÍAS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23865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27"/>
              </a:spcAft>
              <a:defRPr sz="1900" b="1">
                <a:solidFill>
                  <a:srgbClr val="A9B4B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27848" y="2523744"/>
            <a:ext cx="411480" cy="173736"/>
          </a:xfrm>
          <a:prstGeom prst="rightArrow">
            <a:avLst/>
          </a:prstGeom>
          <a:solidFill>
            <a:srgbClr val="E87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2350008"/>
            <a:ext cx="7132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76"/>
              </a:spcAft>
              <a:defRPr sz="2300" b="1">
                <a:solidFill>
                  <a:srgbClr val="E879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296265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PARTIDA  →  HOY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81744" y="1965960"/>
            <a:ext cx="2066543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46336" y="21031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CHECKS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23865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27"/>
              </a:spcAft>
              <a:defRPr sz="1900" b="1">
                <a:solidFill>
                  <a:srgbClr val="A9B4BE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131552" y="2523744"/>
            <a:ext cx="411480" cy="173736"/>
          </a:xfrm>
          <a:prstGeom prst="rightArrow">
            <a:avLst/>
          </a:prstGeom>
          <a:solidFill>
            <a:srgbClr val="C94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79608" y="2350008"/>
            <a:ext cx="7132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76"/>
              </a:spcAft>
              <a:defRPr sz="2300" b="1">
                <a:solidFill>
                  <a:srgbClr val="C94B4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296265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PARTIDA  →  HOY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QUÉ DICEN REALMENTE LAS CIFRAS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977639"/>
            <a:ext cx="34930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9808" y="4224528"/>
            <a:ext cx="329184" cy="329184"/>
          </a:xfrm>
          <a:prstGeom prst="ellipse">
            <a:avLst/>
          </a:prstGeom>
          <a:solidFill>
            <a:srgbClr val="DCEEF8"/>
          </a:solidFill>
          <a:ln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224528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5" y="4133087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17324D"/>
                </a:solidFill>
                <a:latin typeface="Arial"/>
              </a:defRPr>
            </a:pPr>
            <a:r>
              <a:t>Cobertura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5" y="4462272"/>
            <a:ext cx="257860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La automatización ya acompaña al proyecto completo, no solo a la ejecución.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0248" y="3977639"/>
            <a:ext cx="34930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53128" y="4224528"/>
            <a:ext cx="329184" cy="329184"/>
          </a:xfrm>
          <a:prstGeom prst="ellipse">
            <a:avLst/>
          </a:prstGeom>
          <a:solidFill>
            <a:srgbClr val="DDF2EE"/>
          </a:solidFill>
          <a:ln>
            <a:solidFill>
              <a:srgbClr val="DD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4224528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8"/>
              </a:spcAft>
              <a:defRPr sz="900" b="1">
                <a:solidFill>
                  <a:srgbClr val="008F8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8616" y="4133087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17324D"/>
                </a:solidFill>
                <a:latin typeface="Arial"/>
              </a:defRPr>
            </a:pPr>
            <a:r>
              <a:t>Modularidad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28616" y="4462272"/>
            <a:ext cx="257860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La capacidad se instala por necesidad: seis plugins, no una suite monolítica.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73567" y="3977639"/>
            <a:ext cx="34930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56447" y="4224528"/>
            <a:ext cx="329184" cy="329184"/>
          </a:xfrm>
          <a:prstGeom prst="ellipse">
            <a:avLst/>
          </a:prstGeom>
          <a:solidFill>
            <a:srgbClr val="FCE9DC"/>
          </a:solidFill>
          <a:ln>
            <a:solidFill>
              <a:srgbClr val="FC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56447" y="4224528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8"/>
              </a:spcAft>
              <a:defRPr sz="900" b="1">
                <a:solidFill>
                  <a:srgbClr val="E879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4133087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17324D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31936" y="4462272"/>
            <a:ext cx="257860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El método se valida en CI y deja evidencia auditable de cada transición.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Conteo: SKILL.md, comandos publicados, topologías AISDD y check_*.py · 09/09/2026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La herramienta ya no empieza a mitad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La metodología describía el recorrido; el marketplace convierte cada tramo en una capacidad ejecutable.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87168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REQUISITOS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144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136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182880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71808E"/>
                </a:solidFill>
                <a:latin typeface="Arial"/>
              </a:defRPr>
            </a:pPr>
            <a:r>
              <a:t>MEDICIÓN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762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17324D"/>
                </a:solidFill>
                <a:latin typeface="Arial"/>
              </a:defRPr>
            </a:pPr>
            <a:r>
              <a:t>Método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7802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0">
                <a:solidFill>
                  <a:srgbClr val="71808E"/>
                </a:solidFill>
                <a:latin typeface="Arial"/>
              </a:defRPr>
            </a:pPr>
            <a:r>
              <a:t>definía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24144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3136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7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2130552"/>
            <a:ext cx="996695" cy="621792"/>
          </a:xfrm>
          <a:prstGeom prst="roundRect">
            <a:avLst/>
          </a:prstGeom>
          <a:solidFill>
            <a:srgbClr val="A9B4BE"/>
          </a:solidFill>
          <a:ln w="12700">
            <a:solidFill>
              <a:srgbClr val="A9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22677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0112" y="2130552"/>
            <a:ext cx="996695" cy="621792"/>
          </a:xfrm>
          <a:prstGeom prst="roundRect">
            <a:avLst/>
          </a:prstGeom>
          <a:solidFill>
            <a:srgbClr val="E9ECE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906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17324D"/>
                </a:solidFill>
                <a:latin typeface="Arial"/>
              </a:defRPr>
            </a:pPr>
            <a:r>
              <a:t>Tooling v1.6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39242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0">
                <a:solidFill>
                  <a:srgbClr val="71808E"/>
                </a:solidFill>
                <a:latin typeface="Arial"/>
              </a:defRPr>
            </a:pPr>
            <a:r>
              <a:t>automatizaba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87168" y="3044952"/>
            <a:ext cx="996695" cy="621792"/>
          </a:xfrm>
          <a:prstGeom prst="roundRect">
            <a:avLst/>
          </a:prstGeom>
          <a:solidFill>
            <a:srgbClr val="E9ECE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66160" y="3044952"/>
            <a:ext cx="996695" cy="621792"/>
          </a:xfrm>
          <a:prstGeom prst="roundRect">
            <a:avLst/>
          </a:prstGeom>
          <a:solidFill>
            <a:srgbClr val="E9ECE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45152" y="3044952"/>
            <a:ext cx="996695" cy="621792"/>
          </a:xfrm>
          <a:prstGeom prst="roundRect">
            <a:avLst/>
          </a:prstGeom>
          <a:solidFill>
            <a:srgbClr val="E9ECE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24144" y="3044952"/>
            <a:ext cx="996695" cy="62179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24144" y="31821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03136" y="3044952"/>
            <a:ext cx="996695" cy="62179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03136" y="31821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82127" y="3044952"/>
            <a:ext cx="996695" cy="62179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1821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3044952"/>
            <a:ext cx="996695" cy="621792"/>
          </a:xfrm>
          <a:prstGeom prst="roundRect">
            <a:avLst/>
          </a:prstGeom>
          <a:solidFill>
            <a:srgbClr val="E9ECE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40112" y="3044952"/>
            <a:ext cx="996695" cy="621792"/>
          </a:xfrm>
          <a:prstGeom prst="roundRect">
            <a:avLst/>
          </a:prstGeom>
          <a:solidFill>
            <a:srgbClr val="E9ECE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0050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17324D"/>
                </a:solidFill>
                <a:latin typeface="Arial"/>
              </a:defRPr>
            </a:pPr>
            <a:r>
              <a:t>Marketplace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30682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0">
                <a:solidFill>
                  <a:srgbClr val="71808E"/>
                </a:solidFill>
                <a:latin typeface="Arial"/>
              </a:defRPr>
            </a:pPr>
            <a:r>
              <a:t>ejecuta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87168" y="3959352"/>
            <a:ext cx="996695" cy="62179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87168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66160" y="3959352"/>
            <a:ext cx="996695" cy="62179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45152" y="3959352"/>
            <a:ext cx="996695" cy="621792"/>
          </a:xfrm>
          <a:prstGeom prst="round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24144" y="3959352"/>
            <a:ext cx="996695" cy="621792"/>
          </a:xfrm>
          <a:prstGeom prst="round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24144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03136" y="3959352"/>
            <a:ext cx="996695" cy="621792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03136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82127" y="3959352"/>
            <a:ext cx="996695" cy="621792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82127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3959352"/>
            <a:ext cx="996695" cy="621792"/>
          </a:xfrm>
          <a:prstGeom prst="round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0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40112" y="3959352"/>
            <a:ext cx="996695" cy="621792"/>
          </a:xfrm>
          <a:prstGeom prst="round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40112" y="4096512"/>
            <a:ext cx="996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2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SÍ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5047488"/>
            <a:ext cx="10972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" y="5248656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E8792E"/>
                </a:solidFill>
                <a:latin typeface="Arial"/>
              </a:defRPr>
            </a:pPr>
            <a:r>
              <a:t>La diferencia clave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60" y="5212080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31"/>
              </a:spcAft>
              <a:defRPr sz="1100" b="0">
                <a:solidFill>
                  <a:srgbClr val="17324D"/>
                </a:solidFill>
                <a:latin typeface="Arial"/>
              </a:defRPr>
            </a:pPr>
            <a:r>
              <a:t>No se inventaron requisitos, historias o arquitectura: se transformaron guiones manuales en contratos ejecutables y salidas consistentes.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Criterio de fase: 8 tramos operativos de brief a medición; ‘definía’ no equivale a ‘tenía herramienta’.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ARQUITECTURA DE LA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Tres capas; una sola línea de continuidad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Cada capa conserva la anterior y amplía la promesa que puede cumplir.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553712"/>
            <a:ext cx="10881360" cy="1051560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718304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1 · METODOLOGÍA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4700016"/>
            <a:ext cx="7635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2"/>
              </a:spcAft>
              <a:defRPr sz="1019" b="0">
                <a:solidFill>
                  <a:srgbClr val="FFFFFF"/>
                </a:solidFill>
                <a:latin typeface="Arial"/>
              </a:defRPr>
            </a:pPr>
            <a:r>
              <a:t>Especificación como motor · documentos como verdad · human-in-the-loop · roles y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3310128"/>
            <a:ext cx="9491472" cy="1051560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3474720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2 · PROCEDIMIENTO EJECUTABLE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456432"/>
            <a:ext cx="6245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2"/>
              </a:spcAft>
              <a:defRPr sz="1019" b="0">
                <a:solidFill>
                  <a:srgbClr val="FFFFFF"/>
                </a:solidFill>
                <a:latin typeface="Arial"/>
              </a:defRPr>
            </a:pPr>
            <a:r>
              <a:t>OpenSpec · pre-flight · roadmap consciente del contexto · auditoría obligatoria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6" y="2066543"/>
            <a:ext cx="8101583" cy="1051560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223113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3 · SISTEMA DE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2212848"/>
            <a:ext cx="4855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2"/>
              </a:spcAft>
              <a:defRPr sz="1019" b="0">
                <a:solidFill>
                  <a:srgbClr val="FFFFFF"/>
                </a:solidFill>
                <a:latin typeface="Arial"/>
              </a:defRPr>
            </a:pPr>
            <a:r>
              <a:t>Cliente y negocio · dos motores de ejecución · diseño real · medición · CI · multirepo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350008"/>
            <a:ext cx="1078992" cy="329184"/>
          </a:xfrm>
          <a:prstGeom prst="roundRect">
            <a:avLst/>
          </a:prstGeom>
          <a:solidFill>
            <a:srgbClr val="FCE9DC"/>
          </a:solidFill>
          <a:ln w="12700">
            <a:solidFill>
              <a:srgbClr val="FC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2368296"/>
            <a:ext cx="9326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E8792E"/>
                </a:solidFill>
                <a:latin typeface="Arial"/>
              </a:defRPr>
            </a:pPr>
            <a:r>
              <a:t>NUEVO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6" y="3593592"/>
            <a:ext cx="1078992" cy="329184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3611880"/>
            <a:ext cx="9326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0072BC"/>
                </a:solidFill>
                <a:latin typeface="Arial"/>
              </a:defRPr>
            </a:pPr>
            <a:r>
              <a:t>EJECUTA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31552" y="4837176"/>
            <a:ext cx="1078992" cy="329184"/>
          </a:xfrm>
          <a:prstGeom prst="roundRect">
            <a:avLst/>
          </a:prstGeom>
          <a:solidFill>
            <a:srgbClr val="31506A"/>
          </a:solidFill>
          <a:ln w="12700">
            <a:solidFill>
              <a:srgbClr val="31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04704" y="4855464"/>
            <a:ext cx="9326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9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CONSERVA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87959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17324D"/>
                </a:solidFill>
                <a:latin typeface="Arial"/>
              </a:defRPr>
            </a:pPr>
            <a:r>
              <a:t>Lectura ejecutiva: el marketplace no compite con Native AI; convierte su filosofía en una capacidad operativa, distribuible y gobernable.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Seis plugins, organizados alrededor de una única fuente de verdad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La modularidad permite instalar solo la superficie que el proyecto necesita.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9080" y="2359152"/>
            <a:ext cx="4041648" cy="1965960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65176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8"/>
              </a:spcAft>
              <a:defRPr sz="900" b="1">
                <a:solidFill>
                  <a:srgbClr val="16A9C7"/>
                </a:solidFill>
                <a:latin typeface="Arial"/>
              </a:defRPr>
            </a:pPr>
            <a:r>
              <a:t>FUENTE DE VERDAD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3063240"/>
            <a:ext cx="33649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16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HU · arquitectura · specs · decisiones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749039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8"/>
              </a:spcAft>
              <a:defRPr sz="900" b="0">
                <a:solidFill>
                  <a:srgbClr val="B8CBD9"/>
                </a:solidFill>
                <a:latin typeface="Arial"/>
              </a:defRPr>
            </a:pPr>
            <a:r>
              <a:t>Documentos versionados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29443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874519"/>
            <a:ext cx="73152" cy="1234440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029967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AIDD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322576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  <a:defRPr sz="1250" b="1">
                <a:solidFill>
                  <a:srgbClr val="17324D"/>
                </a:solidFill>
                <a:latin typeface="Arial"/>
              </a:defRPr>
            </a:pPr>
            <a:r>
              <a:t>Define el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1576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7"/>
              </a:spcAft>
              <a:defRPr sz="810" b="0">
                <a:solidFill>
                  <a:srgbClr val="71808E"/>
                </a:solidFill>
                <a:latin typeface="Arial"/>
              </a:defRPr>
            </a:pPr>
            <a:r>
              <a:t>brief → requisitos → diseño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60520"/>
            <a:ext cx="29443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160520"/>
            <a:ext cx="73152" cy="1234440"/>
          </a:xfrm>
          <a:prstGeom prst="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1596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E8792E"/>
                </a:solidFill>
                <a:latin typeface="Arial"/>
              </a:defRPr>
            </a:pPr>
            <a:r>
              <a:t>AIBA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08576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  <a:defRPr sz="1250" b="1">
                <a:solidFill>
                  <a:srgbClr val="17324D"/>
                </a:solidFill>
                <a:latin typeface="Arial"/>
              </a:defRPr>
            </a:pPr>
            <a:r>
              <a:t>Da la cara al negocio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00176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7"/>
              </a:spcAft>
              <a:defRPr sz="810" b="0">
                <a:solidFill>
                  <a:srgbClr val="71808E"/>
                </a:solidFill>
                <a:latin typeface="Arial"/>
              </a:defRPr>
            </a:pPr>
            <a:r>
              <a:t>firma → plan → estado → KPI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2" y="1874519"/>
            <a:ext cx="29443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68512" y="1874519"/>
            <a:ext cx="73152" cy="1234440"/>
          </a:xfrm>
          <a:prstGeom prst="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6256" y="2029967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8F83"/>
                </a:solidFill>
                <a:latin typeface="Arial"/>
              </a:defRPr>
            </a:pPr>
            <a:r>
              <a:t>AISDD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2322576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  <a:defRPr sz="1250" b="1">
                <a:solidFill>
                  <a:srgbClr val="17324D"/>
                </a:solidFill>
                <a:latin typeface="Arial"/>
              </a:defRPr>
            </a:pPr>
            <a:r>
              <a:t>Ejecuta con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271576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7"/>
              </a:spcAft>
              <a:defRPr sz="810" b="0">
                <a:solidFill>
                  <a:srgbClr val="71808E"/>
                </a:solidFill>
                <a:latin typeface="Arial"/>
              </a:defRPr>
            </a:pPr>
            <a:r>
              <a:t>change → código → validación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68512" y="4160520"/>
            <a:ext cx="29443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68512" y="4160520"/>
            <a:ext cx="73152" cy="1234440"/>
          </a:xfrm>
          <a:prstGeom prst="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6256" y="431596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16A9C7"/>
                </a:solidFill>
                <a:latin typeface="Arial"/>
              </a:defRPr>
            </a:pPr>
            <a:r>
              <a:t>AIAD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4608576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  <a:defRPr sz="1250" b="1">
                <a:solidFill>
                  <a:srgbClr val="17324D"/>
                </a:solidFill>
                <a:latin typeface="Arial"/>
              </a:defRPr>
            </a:pPr>
            <a:r>
              <a:t>Aumenta al humano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500176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7"/>
              </a:spcAft>
              <a:defRPr sz="810" b="0">
                <a:solidFill>
                  <a:srgbClr val="71808E"/>
                </a:solidFill>
                <a:latin typeface="Arial"/>
              </a:defRPr>
            </a:pPr>
            <a:r>
              <a:t>pensar → escribir → aprender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30752" y="4864608"/>
            <a:ext cx="217627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0752" y="4864608"/>
            <a:ext cx="73152" cy="1234440"/>
          </a:xfrm>
          <a:prstGeom prst="rect">
            <a:avLst/>
          </a:prstGeom>
          <a:solidFill>
            <a:srgbClr val="C94B48"/>
          </a:solidFill>
          <a:ln w="12700"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5020056"/>
            <a:ext cx="1773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C94B48"/>
                </a:solidFill>
                <a:latin typeface="Arial"/>
              </a:defRPr>
            </a:pPr>
            <a:r>
              <a:t>AIFG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8496" y="5312664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  <a:defRPr sz="1250" b="1">
                <a:solidFill>
                  <a:srgbClr val="17324D"/>
                </a:solidFill>
                <a:latin typeface="Arial"/>
              </a:defRPr>
            </a:pPr>
            <a:r>
              <a:t>Conecta diseño 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8496" y="5705856"/>
            <a:ext cx="1773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7"/>
              </a:spcAft>
              <a:defRPr sz="810" b="0">
                <a:solidFill>
                  <a:srgbClr val="71808E"/>
                </a:solidFill>
                <a:latin typeface="Arial"/>
              </a:defRPr>
            </a:pPr>
            <a:r>
              <a:t>Figma → componente → HU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4864608"/>
            <a:ext cx="217627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4" y="4864608"/>
            <a:ext cx="73152" cy="1234440"/>
          </a:xfrm>
          <a:prstGeom prst="rect">
            <a:avLst/>
          </a:prstGeom>
          <a:solidFill>
            <a:srgbClr val="3F556A"/>
          </a:solidFill>
          <a:ln w="12700">
            <a:solidFill>
              <a:srgbClr val="3F5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5020056"/>
            <a:ext cx="1773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3F556A"/>
                </a:solidFill>
                <a:latin typeface="Arial"/>
              </a:defRPr>
            </a:pPr>
            <a:r>
              <a:t>BOOSTERS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5312664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  <a:defRPr sz="1250" b="1">
                <a:solidFill>
                  <a:srgbClr val="17324D"/>
                </a:solidFill>
                <a:latin typeface="Arial"/>
              </a:defRPr>
            </a:pPr>
            <a:r>
              <a:t>Visualiza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5705856"/>
            <a:ext cx="1773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7"/>
              </a:spcAft>
              <a:defRPr sz="810" b="0">
                <a:solidFill>
                  <a:srgbClr val="71808E"/>
                </a:solidFill>
                <a:latin typeface="Arial"/>
              </a:defRPr>
            </a:pPr>
            <a:r>
              <a:t>UX · UML · HTML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566160" y="2331720"/>
            <a:ext cx="356616" cy="201168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8183879" y="2331720"/>
            <a:ext cx="356616" cy="201168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3566160" y="4480560"/>
            <a:ext cx="356616" cy="201168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8183879" y="4480560"/>
            <a:ext cx="356616" cy="201168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Inventario actual: 6 plugins · 34 skills · 41 comandos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El proyecto puede elegir quién lleva las manos en el teclado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AISDD y AIAD comparten la HU como unidad estable; cambia el motor de ejecución.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965960"/>
            <a:ext cx="5230368" cy="3429000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58568"/>
            <a:ext cx="1234440" cy="34747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76856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AI-ENGINE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526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12"/>
              </a:spcAft>
              <a:defRPr sz="2600" b="1">
                <a:solidFill>
                  <a:srgbClr val="17324D"/>
                </a:solidFill>
                <a:latin typeface="Arial"/>
              </a:defRPr>
            </a:pPr>
            <a:r>
              <a:t>AISDD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64992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0">
                <a:solidFill>
                  <a:srgbClr val="3F556A"/>
                </a:solidFill>
                <a:latin typeface="Arial"/>
              </a:defRPr>
            </a:pPr>
            <a:r>
              <a:t>La IA implementa contra una especificación aprobada; la persona dirige, valida y decide.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15968"/>
            <a:ext cx="12618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334255"/>
            <a:ext cx="11155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open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4315968"/>
            <a:ext cx="12618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6584" y="4334255"/>
            <a:ext cx="11155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implement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8184" y="4315968"/>
            <a:ext cx="12618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1336" y="4334255"/>
            <a:ext cx="11155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1">
                <a:solidFill>
                  <a:srgbClr val="0072BC"/>
                </a:solidFill>
                <a:latin typeface="Arial"/>
              </a:defRPr>
            </a:pPr>
            <a:r>
              <a:t>Optimiza velocidad, consistencia y trazabilidad.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65960"/>
            <a:ext cx="5230368" cy="3429000"/>
          </a:xfrm>
          <a:prstGeom prst="roundRect">
            <a:avLst/>
          </a:prstGeom>
          <a:solidFill>
            <a:srgbClr val="DDF2EE"/>
          </a:solidFill>
          <a:ln w="12700">
            <a:solidFill>
              <a:srgbClr val="DD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0256" y="2258568"/>
            <a:ext cx="1481328" cy="347472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2276856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HUMAN-ENGINE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2788920"/>
            <a:ext cx="4526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12"/>
              </a:spcAft>
              <a:defRPr sz="2600" b="1">
                <a:solidFill>
                  <a:srgbClr val="17324D"/>
                </a:solidFill>
                <a:latin typeface="Arial"/>
              </a:defRPr>
            </a:pPr>
            <a:r>
              <a:t>AIAD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364992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0">
                <a:solidFill>
                  <a:srgbClr val="3F556A"/>
                </a:solidFill>
                <a:latin typeface="Arial"/>
              </a:defRPr>
            </a:pPr>
            <a:r>
              <a:t>La persona escribe; la IA explica, pregunta, prueba, revisa y acompaña cuando se la invoca.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0256" y="4315968"/>
            <a:ext cx="12618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4334255"/>
            <a:ext cx="11155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8F83"/>
                </a:solidFill>
                <a:latin typeface="Arial"/>
              </a:defRPr>
            </a:pPr>
            <a:r>
              <a:t>think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315968"/>
            <a:ext cx="12618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334255"/>
            <a:ext cx="11155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8F83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315968"/>
            <a:ext cx="12618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4334255"/>
            <a:ext cx="11155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8F83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48920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1">
                <a:solidFill>
                  <a:srgbClr val="008F83"/>
                </a:solidFill>
                <a:latin typeface="Arial"/>
              </a:defRPr>
            </a:pPr>
            <a:r>
              <a:t>Optimiza autoría, aprendizaje y oficio.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6048" y="1746504"/>
            <a:ext cx="2267712" cy="329184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1764792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3"/>
              </a:spcAft>
              <a:defRPr sz="780" b="1">
                <a:solidFill>
                  <a:srgbClr val="FFFFFF"/>
                </a:solidFill>
                <a:latin typeface="Arial"/>
              </a:defRPr>
            </a:pPr>
            <a:r>
              <a:t>BRIDGE · HU ↔ CHANGE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5669280"/>
            <a:ext cx="1098194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769864"/>
            <a:ext cx="10442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24"/>
              </a:spcAft>
              <a:defRPr sz="1040" b="1">
                <a:solidFill>
                  <a:srgbClr val="17324D"/>
                </a:solidFill>
                <a:latin typeface="Arial"/>
              </a:defRPr>
            </a:pPr>
            <a:r>
              <a:t>Decisión por historia: no todo trabajo maximiza el mismo valor, y el motor puede cambiar a mitad sin perder la trazabilidad.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La evolución cierra los dos extremos que el código no cubre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Antes del change está el cliente. Después del merge está la decisión de negocio.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084831"/>
            <a:ext cx="566928" cy="566928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103120"/>
            <a:ext cx="5669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37360" y="2276856"/>
            <a:ext cx="548640" cy="164592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7121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56"/>
              </a:spcAft>
              <a:defRPr sz="1300" b="1">
                <a:solidFill>
                  <a:srgbClr val="17324D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Qué necesita</a:t>
            </a:r>
          </a:p>
        </p:txBody>
      </p:sp>
      <p:sp>
        <p:nvSpPr>
          <p:cNvPr id="12" name="Oval 11"/>
          <p:cNvSpPr/>
          <p:nvPr/>
        </p:nvSpPr>
        <p:spPr>
          <a:xfrm>
            <a:off x="2953512" y="2084831"/>
            <a:ext cx="566928" cy="566928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103120"/>
            <a:ext cx="5669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57600" y="2276856"/>
            <a:ext cx="548640" cy="164592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87121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56"/>
              </a:spcAft>
              <a:defRPr sz="1300" b="1">
                <a:solidFill>
                  <a:srgbClr val="17324D"/>
                </a:solidFill>
                <a:latin typeface="Arial"/>
              </a:defRPr>
            </a:pPr>
            <a:r>
              <a:t>Contrato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31012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RF · HU · DF</a:t>
            </a:r>
          </a:p>
        </p:txBody>
      </p:sp>
      <p:sp>
        <p:nvSpPr>
          <p:cNvPr id="17" name="Oval 16"/>
          <p:cNvSpPr/>
          <p:nvPr/>
        </p:nvSpPr>
        <p:spPr>
          <a:xfrm>
            <a:off x="4873752" y="2084831"/>
            <a:ext cx="566928" cy="566928"/>
          </a:xfrm>
          <a:prstGeom prst="ellipse">
            <a:avLst/>
          </a:prstGeom>
          <a:solidFill>
            <a:srgbClr val="16A9C7"/>
          </a:solidFill>
          <a:ln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103120"/>
            <a:ext cx="5669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77840" y="2276856"/>
            <a:ext cx="548640" cy="164592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7121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56"/>
              </a:spcAft>
              <a:defRPr sz="1300" b="1">
                <a:solidFill>
                  <a:srgbClr val="17324D"/>
                </a:solidFill>
                <a:latin typeface="Arial"/>
              </a:defRPr>
            </a:pPr>
            <a:r>
              <a:t>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1012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Arquitectura · Figma</a:t>
            </a:r>
          </a:p>
        </p:txBody>
      </p:sp>
      <p:sp>
        <p:nvSpPr>
          <p:cNvPr id="22" name="Oval 21"/>
          <p:cNvSpPr/>
          <p:nvPr/>
        </p:nvSpPr>
        <p:spPr>
          <a:xfrm>
            <a:off x="6793992" y="2084831"/>
            <a:ext cx="566928" cy="566928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103120"/>
            <a:ext cx="5669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98080" y="2276856"/>
            <a:ext cx="548640" cy="164592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56"/>
              </a:spcAft>
              <a:defRPr sz="1300" b="1">
                <a:solidFill>
                  <a:srgbClr val="17324D"/>
                </a:solidFill>
                <a:latin typeface="Arial"/>
              </a:defRPr>
            </a:pPr>
            <a:r>
              <a:t>Entrega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31012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Change · código · tests</a:t>
            </a:r>
          </a:p>
        </p:txBody>
      </p:sp>
      <p:sp>
        <p:nvSpPr>
          <p:cNvPr id="27" name="Oval 26"/>
          <p:cNvSpPr/>
          <p:nvPr/>
        </p:nvSpPr>
        <p:spPr>
          <a:xfrm>
            <a:off x="8714232" y="2084831"/>
            <a:ext cx="566928" cy="566928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2103120"/>
            <a:ext cx="5669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18320" y="2276856"/>
            <a:ext cx="548640" cy="164592"/>
          </a:xfrm>
          <a:prstGeom prst="rightArrow">
            <a:avLst/>
          </a:prstGeom>
          <a:solidFill>
            <a:srgbClr val="A9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287121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56"/>
              </a:spcAft>
              <a:defRPr sz="1300" b="1">
                <a:solidFill>
                  <a:srgbClr val="17324D"/>
                </a:solidFill>
                <a:latin typeface="Arial"/>
              </a:defRPr>
            </a:pPr>
            <a:r>
              <a:t>Evidencia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31012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Plan · estado · auditoría</a:t>
            </a:r>
          </a:p>
        </p:txBody>
      </p:sp>
      <p:sp>
        <p:nvSpPr>
          <p:cNvPr id="32" name="Oval 31"/>
          <p:cNvSpPr/>
          <p:nvPr/>
        </p:nvSpPr>
        <p:spPr>
          <a:xfrm>
            <a:off x="10634472" y="2084831"/>
            <a:ext cx="566928" cy="566928"/>
          </a:xfrm>
          <a:prstGeom prst="ellipse">
            <a:avLst/>
          </a:prstGeom>
          <a:solidFill>
            <a:srgbClr val="C94B48"/>
          </a:solidFill>
          <a:ln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4472" y="2103120"/>
            <a:ext cx="5669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31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87121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56"/>
              </a:spcAft>
              <a:defRPr sz="1300" b="1">
                <a:solidFill>
                  <a:srgbClr val="17324D"/>
                </a:solidFill>
                <a:latin typeface="Arial"/>
              </a:defRPr>
            </a:pPr>
            <a:r>
              <a:t>Decisión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31012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3F556A"/>
                </a:solidFill>
                <a:latin typeface="Arial"/>
              </a:defRPr>
            </a:pPr>
            <a:r>
              <a:t>KPI medido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315968"/>
            <a:ext cx="5349240" cy="1143000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5354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72BC"/>
                </a:solidFill>
                <a:latin typeface="Arial"/>
              </a:defRPr>
            </a:pPr>
            <a:r>
              <a:t>EXTREMO CLIENTE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462272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4"/>
              </a:spcAft>
              <a:defRPr sz="1040" b="1">
                <a:solidFill>
                  <a:srgbClr val="17324D"/>
                </a:solidFill>
                <a:latin typeface="Arial"/>
              </a:defRPr>
            </a:pPr>
            <a:r>
              <a:t>AIDD + AIBA convierten conversaciones en entregables revisables y firmables.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4315968"/>
            <a:ext cx="5349240" cy="1143000"/>
          </a:xfrm>
          <a:prstGeom prst="roundRect">
            <a:avLst/>
          </a:prstGeom>
          <a:solidFill>
            <a:srgbClr val="FCE9DC"/>
          </a:solidFill>
          <a:ln w="12700">
            <a:solidFill>
              <a:srgbClr val="FC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4" y="453542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E8792E"/>
                </a:solidFill>
                <a:latin typeface="Arial"/>
              </a:defRPr>
            </a:pPr>
            <a:r>
              <a:t>EXTREMO EVIDENCIA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462272"/>
            <a:ext cx="307238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4"/>
              </a:spcAft>
              <a:defRPr sz="1040" b="1">
                <a:solidFill>
                  <a:srgbClr val="17324D"/>
                </a:solidFill>
                <a:latin typeface="Arial"/>
              </a:defRPr>
            </a:pPr>
            <a:r>
              <a:t>AIBA explota auditoría y Jira sin disfrazar estimaciones de resultados medidos.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ESCALA Y GOBIERNO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La metodología deja de depender de la memoria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Las convenciones se convierten en decisiones explícitas, verificaciones y evidencia.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47672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47672"/>
            <a:ext cx="64008" cy="15727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1226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72BC"/>
                </a:solidFill>
                <a:latin typeface="Arial"/>
              </a:defRPr>
            </a:pPr>
            <a:r>
              <a:t>DUDAS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865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Pre-flight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89504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Bloqueantes siempre; preferencias configurables; decisiones persistidas.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47672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47672"/>
            <a:ext cx="64008" cy="1572768"/>
          </a:xfrm>
          <a:prstGeom prst="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11226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16A9C7"/>
                </a:solidFill>
                <a:latin typeface="Arial"/>
              </a:defRPr>
            </a:pPr>
            <a:r>
              <a:t>PARALELISMO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865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3 modos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889504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atomic · waves · multilane, con garantías declaradas y barreras.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947672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947672"/>
            <a:ext cx="64008" cy="1572768"/>
          </a:xfrm>
          <a:prstGeom prst="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11226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8F83"/>
                </a:solidFill>
                <a:latin typeface="Arial"/>
              </a:defRPr>
            </a:pPr>
            <a:r>
              <a:t>REPOS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865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3 topologías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889504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mono · fraccionado · gobierno externo, sin inventar un repo padre.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9624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49624"/>
            <a:ext cx="64008" cy="1572768"/>
          </a:xfrm>
          <a:prstGeom prst="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014215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E8792E"/>
                </a:solidFill>
                <a:latin typeface="Arial"/>
              </a:defRPr>
            </a:pPr>
            <a:r>
              <a:t>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2885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Auditoría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79145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Hashes, modelo, entradas, salidas y decisiones; sin guardar contenido sensible.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9624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9624"/>
            <a:ext cx="64008" cy="1572768"/>
          </a:xfrm>
          <a:prstGeom prst="rect">
            <a:avLst/>
          </a:prstGeom>
          <a:solidFill>
            <a:srgbClr val="C94B48"/>
          </a:solidFill>
          <a:ln w="12700"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014215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C94B48"/>
                </a:solidFill>
                <a:latin typeface="Arial"/>
              </a:defRPr>
            </a:pPr>
            <a:r>
              <a:t>CALIDAD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2885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12 checks 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79145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Contratos, manifiestos, referencias, scripts, HTML y versiones.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1" y="3849624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8431" y="3849624"/>
            <a:ext cx="64008" cy="1572768"/>
          </a:xfrm>
          <a:prstGeom prst="rect">
            <a:avLst/>
          </a:prstGeom>
          <a:solidFill>
            <a:srgbClr val="3F556A"/>
          </a:solidFill>
          <a:ln w="12700">
            <a:solidFill>
              <a:srgbClr val="3F5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4014215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3F556A"/>
                </a:solidFill>
                <a:latin typeface="Arial"/>
              </a:defRPr>
            </a:pPr>
            <a:r>
              <a:t>DISTRIBUCIÓN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885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6 plugins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79145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Semver independiente e instalación reversible por necesidad.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815584"/>
            <a:ext cx="11027664" cy="384048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888736"/>
            <a:ext cx="10588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13"/>
              </a:spcAft>
              <a:defRPr sz="950" b="1">
                <a:solidFill>
                  <a:srgbClr val="FFFFFF"/>
                </a:solidFill>
                <a:latin typeface="Arial"/>
              </a:defRPr>
            </a:pPr>
            <a:r>
              <a:t>Resultado: el método puede crecer en personas, repositorios y plataformas sin perder el contrato que lo hace reconocible.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ADOPCIÓN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No hace falta adoptar 34 skills el primer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La unidad de adopción es el problema que se quiere resolver, no el marketplace completo.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2971800" cy="896112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65192"/>
            <a:ext cx="253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1 · FLUJO MÍNIMO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85232"/>
            <a:ext cx="25328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4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AIDD + AISDD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913632"/>
            <a:ext cx="2971800" cy="1783080"/>
          </a:xfrm>
          <a:prstGeom prst="roundRect">
            <a:avLst/>
          </a:prstGeom>
          <a:solidFill>
            <a:srgbClr val="16A9C7"/>
          </a:solidFill>
          <a:ln w="12700"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4078224"/>
            <a:ext cx="253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2 · CLIENTE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4398264"/>
            <a:ext cx="25328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4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+ AIBA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4946904"/>
            <a:ext cx="253288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2"/>
              </a:spcAft>
              <a:defRPr sz="1019" b="0">
                <a:solidFill>
                  <a:srgbClr val="FFFFFF"/>
                </a:solidFill>
                <a:latin typeface="Arial"/>
              </a:defRPr>
            </a:pPr>
            <a:r>
              <a:t>Firmables, pruebas, planificación, estado 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26664"/>
            <a:ext cx="2523744" cy="2670048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3191256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3 · DISEÑO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3511296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4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+ AIFG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059935"/>
            <a:ext cx="2084831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2"/>
              </a:spcAft>
              <a:defRPr sz="1019" b="0">
                <a:solidFill>
                  <a:srgbClr val="FFFFFF"/>
                </a:solidFill>
                <a:latin typeface="Arial"/>
              </a:defRPr>
            </a:pPr>
            <a:r>
              <a:t>Figma llega a la HU sin cargar el árbol entero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95944" y="2139696"/>
            <a:ext cx="2578608" cy="3557016"/>
          </a:xfrm>
          <a:prstGeom prst="round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304288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4 · ELECCIÓN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62432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4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AISDD ↔ AIAD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172968"/>
            <a:ext cx="2139696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2"/>
              </a:spcAft>
              <a:defRPr sz="1019" b="0">
                <a:solidFill>
                  <a:srgbClr val="FFFFFF"/>
                </a:solidFill>
                <a:latin typeface="Arial"/>
              </a:defRPr>
            </a:pPr>
            <a:r>
              <a:t>Elegir IA o humano como motor por historia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938528"/>
            <a:ext cx="5166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10"/>
              </a:spcAft>
              <a:defRPr sz="1750" b="1">
                <a:solidFill>
                  <a:srgbClr val="17324D"/>
                </a:solidFill>
                <a:latin typeface="Arial"/>
              </a:defRPr>
            </a:pPr>
            <a:r>
              <a:t>Empieza por el núcleo. Añade superficie solo cuando aparece el coste que esa superficie evita.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816352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9"/>
              </a:spcAft>
              <a:defRPr sz="1080" b="0">
                <a:solidFill>
                  <a:srgbClr val="3F556A"/>
                </a:solidFill>
                <a:latin typeface="Arial"/>
              </a:defRPr>
            </a:pPr>
            <a:r>
              <a:t>Para un proyecto pequeño, AIDD + AISDD ya completan el recorrido. AIBA compensa cuando hay cliente, gobierno y reporting; AIFG cuando el diseño es contrato; AIAD cuando importa la autoría humana.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Qué conviene conservar, consolidar y hacer después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Una recomendación ejecutiva, con la contrapartida a la vista.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49300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64008" cy="321868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72BC"/>
                </a:solidFill>
                <a:latin typeface="Arial"/>
              </a:defRPr>
            </a:pPr>
            <a:r>
              <a:t>CONSERVAR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El núcleo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80360"/>
            <a:ext cx="3108960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Especificación antes de código, documentos como fuente de verdad, aprobación humana, changes pequeños y auditoría. Es la identidad del método.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938528"/>
            <a:ext cx="349300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938528"/>
            <a:ext cx="64008" cy="3218688"/>
          </a:xfrm>
          <a:prstGeom prst="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8F83"/>
                </a:solidFill>
                <a:latin typeface="Arial"/>
              </a:defRPr>
            </a:pPr>
            <a:r>
              <a:t>CONSOLIDAR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La 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108960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Presentar los seis plugins como capas de una cadena y no como un catálogo. Medir adopción por problema resuelto, no por skills instalados.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38528"/>
            <a:ext cx="349300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38528"/>
            <a:ext cx="64008" cy="3218688"/>
          </a:xfrm>
          <a:prstGeom prst="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1031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E8792E"/>
                </a:solidFill>
                <a:latin typeface="Arial"/>
              </a:defRPr>
            </a:pPr>
            <a:r>
              <a:t>RESOLVER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La deuda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880360"/>
            <a:ext cx="3108960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Actualizar la metodología troncal para absorber paralelismo, topologías, Jira y las capas AIBA/AIAD/AIFG. Hoy los SKILL.md van por delante.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413248"/>
            <a:ext cx="11064240" cy="731520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559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16A9C7"/>
                </a:solidFill>
                <a:latin typeface="Arial"/>
              </a:defRPr>
            </a:pPr>
            <a:r>
              <a:t>DECISIÓN RECOMENDADA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5504688"/>
            <a:ext cx="8275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56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Adoptar por capas y financiar la reconciliación metodológica antes de escalar el relato fuera del equipo.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16A9C7"/>
                </a:solidFill>
                <a:latin typeface="Arial"/>
              </a:defRPr>
            </a:pPr>
            <a: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8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El detalle detrás del relato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7498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0">
                <a:solidFill>
                  <a:srgbClr val="C6D6E3"/>
                </a:solidFill>
                <a:latin typeface="Arial"/>
              </a:defRPr>
            </a:pPr>
            <a:r>
              <a:t>Procedimientos, inventario de skills, diez mejoras, continuidades, costes y fuentes de contraste.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86200"/>
            <a:ext cx="2606040" cy="411480"/>
          </a:xfrm>
          <a:prstGeom prst="roundRect">
            <a:avLst/>
          </a:prstGeom>
          <a:solidFill>
            <a:srgbClr val="24435D"/>
          </a:solidFill>
          <a:ln w="12700">
            <a:solidFill>
              <a:srgbClr val="24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3904487"/>
            <a:ext cx="24597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A · Procedimientos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886200"/>
            <a:ext cx="2606040" cy="411480"/>
          </a:xfrm>
          <a:prstGeom prst="roundRect">
            <a:avLst/>
          </a:prstGeom>
          <a:solidFill>
            <a:srgbClr val="24435D"/>
          </a:solidFill>
          <a:ln w="12700">
            <a:solidFill>
              <a:srgbClr val="24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3904487"/>
            <a:ext cx="24597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B · Plugins y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886200"/>
            <a:ext cx="2606040" cy="411480"/>
          </a:xfrm>
          <a:prstGeom prst="roundRect">
            <a:avLst/>
          </a:prstGeom>
          <a:solidFill>
            <a:srgbClr val="24435D"/>
          </a:solidFill>
          <a:ln w="12700">
            <a:solidFill>
              <a:srgbClr val="24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3904487"/>
            <a:ext cx="24597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C · Mejoras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44568"/>
            <a:ext cx="2606040" cy="411480"/>
          </a:xfrm>
          <a:prstGeom prst="roundRect">
            <a:avLst/>
          </a:prstGeom>
          <a:solidFill>
            <a:srgbClr val="24435D"/>
          </a:solidFill>
          <a:ln w="12700">
            <a:solidFill>
              <a:srgbClr val="24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" y="4562855"/>
            <a:ext cx="24597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D · Continuidad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544568"/>
            <a:ext cx="2606040" cy="411480"/>
          </a:xfrm>
          <a:prstGeom prst="roundRect">
            <a:avLst/>
          </a:prstGeom>
          <a:solidFill>
            <a:srgbClr val="24435D"/>
          </a:solidFill>
          <a:ln w="12700">
            <a:solidFill>
              <a:srgbClr val="24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4562855"/>
            <a:ext cx="24597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E · Costes y fuentes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A9B4BE"/>
                </a:solidFill>
                <a:latin typeface="Arial"/>
              </a:defRPr>
            </a:pPr>
            <a:r>
              <a:t>Anexo técnico · las siguientes slides conservan el detalle para consulta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A9B4BE"/>
                </a:solidFill>
                <a:latin typeface="Arial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ANEXO · PROCEDIMIENTO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Los dos procedimientos, uno frente a otro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Mismo núcleo de especificación; distinta amplitud operativa.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331720" cy="512064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56816"/>
            <a:ext cx="2112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9"/>
              </a:spcAft>
              <a:defRPr sz="830" b="1">
                <a:solidFill>
                  <a:srgbClr val="FFFFFF"/>
                </a:solidFill>
                <a:latin typeface="Arial"/>
              </a:defRPr>
            </a:pPr>
            <a:r>
              <a:t>DIMENSIÓN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1847088"/>
            <a:ext cx="4069080" cy="512064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1956816"/>
            <a:ext cx="3849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9"/>
              </a:spcAft>
              <a:defRPr sz="830" b="1">
                <a:solidFill>
                  <a:srgbClr val="FFFFFF"/>
                </a:solidFill>
                <a:latin typeface="Arial"/>
              </a:defRPr>
            </a:pPr>
            <a:r>
              <a:t>NATIVE-AI-SPECS v1.6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1847088"/>
            <a:ext cx="4443984" cy="512064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195681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9"/>
              </a:spcAft>
              <a:defRPr sz="830" b="1">
                <a:solidFill>
                  <a:srgbClr val="FFFFFF"/>
                </a:solidFill>
                <a:latin typeface="Arial"/>
              </a:defRPr>
            </a:pPr>
            <a:r>
              <a:t>MARKETPLACE v1.46.1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432304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496312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Piezas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0088" y="2432304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2496312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3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2432304"/>
            <a:ext cx="4443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2496312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34 skills · 6 plugins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71216"/>
            <a:ext cx="233172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935224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Comandos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0088" y="2871216"/>
            <a:ext cx="406908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8104" y="2935224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2871216"/>
            <a:ext cx="4443984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93522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310128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374136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Cobertura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90088" y="3310128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8104" y="3374136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fases 3–5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3310128"/>
            <a:ext cx="4443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3374136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fases 0–5 + entrega + medición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49039"/>
            <a:ext cx="233172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813048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Roles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0088" y="3749039"/>
            <a:ext cx="406908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4" y="3813048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3749039"/>
            <a:ext cx="4443984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8624" y="3813048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5 + cliente/negocio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187952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251960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Paralelismo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90088" y="4187952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4" y="4251960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oleadas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50608" y="4187952"/>
            <a:ext cx="4443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4" y="4251960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atomic · waves · multilane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626864"/>
            <a:ext cx="233172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4690872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Repositorios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90088" y="4626864"/>
            <a:ext cx="406908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18104" y="4690872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uno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0608" y="4626864"/>
            <a:ext cx="4443984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8624" y="4690872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mono · fraccionado · externo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065776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5129784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Distribución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90088" y="5065776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18104" y="5129784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copia manual + check remoto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50608" y="5065776"/>
            <a:ext cx="4443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8624" y="512978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marketplace · semver · release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5504688"/>
            <a:ext cx="233172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5568696"/>
            <a:ext cx="20756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  <a:defRPr sz="840" b="1">
                <a:solidFill>
                  <a:srgbClr val="17324D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90088" y="5504688"/>
            <a:ext cx="4069080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18104" y="5568696"/>
            <a:ext cx="3813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auditoría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50608" y="5504688"/>
            <a:ext cx="4443984" cy="402336"/>
          </a:xfrm>
          <a:prstGeom prst="rect">
            <a:avLst/>
          </a:prstGeom>
          <a:solidFill>
            <a:srgbClr val="EEF1F2"/>
          </a:solidFill>
          <a:ln w="12700">
            <a:solidFill>
              <a:srgbClr val="EE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8624" y="5568696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  <a:defRPr sz="840" b="0">
                <a:solidFill>
                  <a:srgbClr val="3F556A"/>
                </a:solidFill>
                <a:latin typeface="Arial"/>
              </a:defRPr>
            </a:pPr>
            <a:r>
              <a:t>auditoría + 12 checks CI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6053328"/>
            <a:ext cx="11027664" cy="237744"/>
          </a:xfrm>
          <a:prstGeom prst="roundRect">
            <a:avLst/>
          </a:prstGeom>
          <a:solidFill>
            <a:srgbClr val="FCE9DC"/>
          </a:solidFill>
          <a:ln w="12700">
            <a:solidFill>
              <a:srgbClr val="FC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" y="6080760"/>
            <a:ext cx="10661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17324D"/>
                </a:solidFill>
                <a:latin typeface="Arial"/>
              </a:defRPr>
            </a:pPr>
            <a:r>
              <a:t>Lectura: la ligereza baja, pero la cobertura, la capacidad de escala y la interfaz con negocio suben.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ANEXO ·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Del cliente al código: AIDD, AISDD y AIBA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Los tres plugins que forman la cadena de entrega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33756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337560" cy="676656"/>
          </a:xfrm>
          <a:prstGeom prst="roundRect">
            <a:avLst/>
          </a:prstGeom>
          <a:solidFill>
            <a:srgbClr val="0072BC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9352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AIDD ·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70048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0072BC"/>
                </a:solidFill>
                <a:latin typeface="Arial"/>
              </a:defRPr>
            </a:pPr>
            <a:r>
              <a:t>DEFINIR Y DISEÑAR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client-requirements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29000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741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39896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85032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user-stories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50791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95928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user-story-details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61688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06824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prototype-architecture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672584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prototype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83480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2861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style-guide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294376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39512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architecture-proposal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5605272"/>
            <a:ext cx="91440" cy="91440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50408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1874519"/>
            <a:ext cx="333756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60520" y="1874519"/>
            <a:ext cx="3337560" cy="676656"/>
          </a:xfrm>
          <a:prstGeom prst="round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2011680"/>
            <a:ext cx="29352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AISDD ·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2670048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008F83"/>
                </a:solidFill>
                <a:latin typeface="Arial"/>
              </a:defRPr>
            </a:pPr>
            <a:r>
              <a:t>ESPECIFICAR Y EJECUTAR</a:t>
            </a:r>
          </a:p>
        </p:txBody>
      </p:sp>
      <p:sp>
        <p:nvSpPr>
          <p:cNvPr id="33" name="Oval 32"/>
          <p:cNvSpPr/>
          <p:nvPr/>
        </p:nvSpPr>
        <p:spPr>
          <a:xfrm>
            <a:off x="4370832" y="3118104"/>
            <a:ext cx="91440" cy="914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3063240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aisdd-specs</a:t>
            </a:r>
          </a:p>
        </p:txBody>
      </p:sp>
      <p:sp>
        <p:nvSpPr>
          <p:cNvPr id="35" name="Oval 34"/>
          <p:cNvSpPr/>
          <p:nvPr/>
        </p:nvSpPr>
        <p:spPr>
          <a:xfrm>
            <a:off x="4370832" y="3429000"/>
            <a:ext cx="91440" cy="914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33741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aisdd-amend</a:t>
            </a:r>
          </a:p>
        </p:txBody>
      </p:sp>
      <p:sp>
        <p:nvSpPr>
          <p:cNvPr id="37" name="Oval 36"/>
          <p:cNvSpPr/>
          <p:nvPr/>
        </p:nvSpPr>
        <p:spPr>
          <a:xfrm>
            <a:off x="4370832" y="3739896"/>
            <a:ext cx="91440" cy="914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1" y="3685032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9 comandos: init · roadmap · open</a:t>
            </a:r>
          </a:p>
        </p:txBody>
      </p:sp>
      <p:sp>
        <p:nvSpPr>
          <p:cNvPr id="39" name="Oval 38"/>
          <p:cNvSpPr/>
          <p:nvPr/>
        </p:nvSpPr>
        <p:spPr>
          <a:xfrm>
            <a:off x="4370832" y="4050791"/>
            <a:ext cx="91440" cy="914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1" y="3995928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implement · amend · close</a:t>
            </a:r>
          </a:p>
        </p:txBody>
      </p:sp>
      <p:sp>
        <p:nvSpPr>
          <p:cNvPr id="41" name="Oval 40"/>
          <p:cNvSpPr/>
          <p:nvPr/>
        </p:nvSpPr>
        <p:spPr>
          <a:xfrm>
            <a:off x="4370832" y="4361688"/>
            <a:ext cx="91440" cy="914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1" y="4306824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lane · prototype-ux · uml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1874519"/>
            <a:ext cx="333756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54112" y="1874519"/>
            <a:ext cx="3337560" cy="676656"/>
          </a:xfrm>
          <a:prstGeom prst="round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2011680"/>
            <a:ext cx="29352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4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AIBA ·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2670048"/>
            <a:ext cx="2935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6"/>
              </a:spcAft>
              <a:defRPr sz="800" b="1">
                <a:solidFill>
                  <a:srgbClr val="E8792E"/>
                </a:solidFill>
                <a:latin typeface="Arial"/>
              </a:defRPr>
            </a:pPr>
            <a:r>
              <a:t>NEGOCIO, ENTREGA Y MEDICIÓN</a:t>
            </a:r>
          </a:p>
        </p:txBody>
      </p:sp>
      <p:sp>
        <p:nvSpPr>
          <p:cNvPr id="47" name="Oval 46"/>
          <p:cNvSpPr/>
          <p:nvPr/>
        </p:nvSpPr>
        <p:spPr>
          <a:xfrm>
            <a:off x="7964424" y="3118104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3063240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functional-design</a:t>
            </a:r>
          </a:p>
        </p:txBody>
      </p:sp>
      <p:sp>
        <p:nvSpPr>
          <p:cNvPr id="49" name="Oval 48"/>
          <p:cNvSpPr/>
          <p:nvPr/>
        </p:nvSpPr>
        <p:spPr>
          <a:xfrm>
            <a:off x="7964424" y="3429000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4" y="33741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test-plan</a:t>
            </a:r>
          </a:p>
        </p:txBody>
      </p:sp>
      <p:sp>
        <p:nvSpPr>
          <p:cNvPr id="51" name="Oval 50"/>
          <p:cNvSpPr/>
          <p:nvPr/>
        </p:nvSpPr>
        <p:spPr>
          <a:xfrm>
            <a:off x="7964424" y="3739896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4" y="3685032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hu-review-plan</a:t>
            </a:r>
          </a:p>
        </p:txBody>
      </p:sp>
      <p:sp>
        <p:nvSpPr>
          <p:cNvPr id="53" name="Oval 52"/>
          <p:cNvSpPr/>
          <p:nvPr/>
        </p:nvSpPr>
        <p:spPr>
          <a:xfrm>
            <a:off x="7964424" y="4050791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93024" y="3995928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project-plan</a:t>
            </a:r>
          </a:p>
        </p:txBody>
      </p:sp>
      <p:sp>
        <p:nvSpPr>
          <p:cNvPr id="55" name="Oval 54"/>
          <p:cNvSpPr/>
          <p:nvPr/>
        </p:nvSpPr>
        <p:spPr>
          <a:xfrm>
            <a:off x="7964424" y="4361688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93024" y="4306824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sprint-planning</a:t>
            </a:r>
          </a:p>
        </p:txBody>
      </p:sp>
      <p:sp>
        <p:nvSpPr>
          <p:cNvPr id="57" name="Oval 56"/>
          <p:cNvSpPr/>
          <p:nvPr/>
        </p:nvSpPr>
        <p:spPr>
          <a:xfrm>
            <a:off x="7964424" y="4672584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3024" y="4617720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status-report</a:t>
            </a:r>
          </a:p>
        </p:txBody>
      </p:sp>
      <p:sp>
        <p:nvSpPr>
          <p:cNvPr id="59" name="Oval 58"/>
          <p:cNvSpPr/>
          <p:nvPr/>
        </p:nvSpPr>
        <p:spPr>
          <a:xfrm>
            <a:off x="7964424" y="4983480"/>
            <a:ext cx="91440" cy="91440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93024" y="492861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0">
                <a:solidFill>
                  <a:srgbClr val="3F556A"/>
                </a:solidFill>
                <a:latin typeface="Arial"/>
              </a:defRPr>
            </a:pPr>
            <a:r>
              <a:t>metrics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Nombres abreviados: todos los skills llevan el prefijo de su plugin.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ANEXO ·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Autoría, diseño real y piezas compartidas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Capas opcionales que cambian el modo de trabajo sin romper el flujo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39512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6543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6A9C7"/>
                </a:solidFill>
                <a:latin typeface="Arial"/>
              </a:defRPr>
            </a:pPr>
            <a:r>
              <a:t>AIAD · 11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60904"/>
            <a:ext cx="1051560" cy="310896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2"/>
            <a:ext cx="905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PENSAR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2688336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design · explain · rubber-duck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1051560" cy="310896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55264"/>
            <a:ext cx="905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CONSTRUIR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3264408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tdd ·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13048"/>
            <a:ext cx="1051560" cy="310896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31335"/>
            <a:ext cx="905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MEJORAR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3840480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1051560" cy="310896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407408"/>
            <a:ext cx="905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FLUIR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4416552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pair · bridge · unblock · save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65192"/>
            <a:ext cx="1051560" cy="310896"/>
          </a:xfrm>
          <a:prstGeom prst="roundRect">
            <a:avLst/>
          </a:prstGeom>
          <a:solidFill>
            <a:srgbClr val="DCEEF8"/>
          </a:solidFill>
          <a:ln w="12700">
            <a:solidFill>
              <a:srgbClr val="DC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983479"/>
            <a:ext cx="905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6"/>
              </a:spcAft>
              <a:defRPr sz="720" b="1">
                <a:solidFill>
                  <a:srgbClr val="0072BC"/>
                </a:solidFill>
                <a:latin typeface="Arial"/>
              </a:defRPr>
            </a:pPr>
            <a:r>
              <a:t>REGISTRAR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4992624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journal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86984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16A9C7"/>
                </a:solidFill>
                <a:latin typeface="Arial"/>
              </a:defRPr>
            </a:pPr>
            <a:r>
              <a:t>Principio: pull, no push. El humano conserva la autoría.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9048" y="1847088"/>
            <a:ext cx="25786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1847088"/>
            <a:ext cx="64008" cy="1847088"/>
          </a:xfrm>
          <a:prstGeom prst="rect">
            <a:avLst/>
          </a:prstGeom>
          <a:solidFill>
            <a:srgbClr val="C94B48"/>
          </a:solidFill>
          <a:ln w="12700"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20116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C94B48"/>
                </a:solidFill>
                <a:latin typeface="Arial"/>
              </a:defRPr>
            </a:pPr>
            <a:r>
              <a:t>AIFG ·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Diseño → HU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788920"/>
            <a:ext cx="219456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capture normaliza Figma por componente e historia; update re-captura y mide el impacto.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42832" y="1847088"/>
            <a:ext cx="265176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42832" y="1847088"/>
            <a:ext cx="64008" cy="1847088"/>
          </a:xfrm>
          <a:prstGeom prst="rect">
            <a:avLst/>
          </a:prstGeom>
          <a:solidFill>
            <a:srgbClr val="3F556A"/>
          </a:solidFill>
          <a:ln w="12700">
            <a:solidFill>
              <a:srgbClr val="3F5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2288" y="2011680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3F556A"/>
                </a:solidFill>
                <a:latin typeface="Arial"/>
              </a:defRPr>
            </a:pPr>
            <a:r>
              <a:t>BOOSTERS ·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286000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Visualizar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788920"/>
            <a:ext cx="22677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UX crea prototipos; UML explica changes; Docs convierte Markdown en vistas HTML.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9048" y="4023360"/>
            <a:ext cx="5495544" cy="2057400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429768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16A9C7"/>
                </a:solidFill>
                <a:latin typeface="Arial"/>
              </a:defRPr>
            </a:pPr>
            <a:r>
              <a:t>POR QUÉ SON ADITIVOS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736592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1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Sin AIFG, AISDD sigue leyendo la guía de estilos. Sin AIAD, AISDD sigue siendo el motor. Sin boosters, el contrato documental permanece: se pierde la vista, no la verdad.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ANEXO ·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Diez mejoras que cambian el proceso, no solo el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Agrupadas por el problema operativo que resuelven.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75104"/>
            <a:ext cx="384048" cy="384048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476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Definición ejecutable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194767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Brief, requisitos, HU y arquitectura como comandos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47088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91072" y="1975104"/>
            <a:ext cx="384048" cy="384048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8424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9476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Interfaz con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194767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Firmables, pruebas, plan, estado y KPI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79192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07208"/>
            <a:ext cx="384048" cy="384048"/>
          </a:xfrm>
          <a:prstGeom prst="ellipse">
            <a:avLst/>
          </a:prstGeom>
          <a:solidFill>
            <a:srgbClr val="C94B48"/>
          </a:solidFill>
          <a:ln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1635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79776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Diseño hasta la HU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277977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Figma normalizado, cargado solo cuando aplica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679192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1072" y="2807208"/>
            <a:ext cx="384048" cy="384048"/>
          </a:xfrm>
          <a:prstGeom prst="ellipse">
            <a:avLst/>
          </a:prstGeom>
          <a:solidFill>
            <a:srgbClr val="16A9C7"/>
          </a:solidFill>
          <a:ln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81635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779776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Paralelismo explícito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77977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Tres modos y garantías conocidas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11296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639312"/>
            <a:ext cx="384048" cy="384048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4845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611879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Multirepositorio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9504" y="3611879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Tres topologías y migración guiada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511296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072" y="3639312"/>
            <a:ext cx="384048" cy="384048"/>
          </a:xfrm>
          <a:prstGeom prst="ellipse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64845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3611879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Retrabajo visible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611879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amend ejecuta y registra solo el delta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343400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4471416"/>
            <a:ext cx="384048" cy="384048"/>
          </a:xfrm>
          <a:prstGeom prst="ellipse">
            <a:avLst/>
          </a:prstGeom>
          <a:solidFill>
            <a:srgbClr val="E8792E"/>
          </a:solidFill>
          <a:ln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8056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443984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Métrica defendible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9504" y="4443984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Auditoría + worklog real de Jira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343400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91072" y="4471416"/>
            <a:ext cx="384048" cy="384048"/>
          </a:xfrm>
          <a:prstGeom prst="ellipse">
            <a:avLst/>
          </a:prstGeom>
          <a:solidFill>
            <a:srgbClr val="C94B48"/>
          </a:solidFill>
          <a:ln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448056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4443984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Autoverificación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4443984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Doce checks evitan degradación silenciosa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175504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5303520"/>
            <a:ext cx="384048" cy="384048"/>
          </a:xfrm>
          <a:prstGeom prst="ellipse">
            <a:avLst/>
          </a:prstGeom>
          <a:solidFill>
            <a:srgbClr val="16A9C7"/>
          </a:solidFill>
          <a:ln>
            <a:solidFill>
              <a:srgbClr val="16A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31266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276088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Segundo motor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9504" y="5276088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Human-first elegible por historia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5175504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91072" y="5303520"/>
            <a:ext cx="384048" cy="384048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531266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9712" y="5276088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2"/>
              </a:spcAft>
              <a:defRPr sz="940" b="1">
                <a:solidFill>
                  <a:srgbClr val="17324D"/>
                </a:solidFill>
                <a:latin typeface="Arial"/>
              </a:defRPr>
            </a:pPr>
            <a:r>
              <a:t>Distribución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5276088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2"/>
              </a:spcAft>
              <a:defRPr sz="770" b="0">
                <a:solidFill>
                  <a:srgbClr val="3F556A"/>
                </a:solidFill>
                <a:latin typeface="Arial"/>
              </a:defRPr>
            </a:pPr>
            <a:r>
              <a:t>Plugins, semver y release reproducible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ANEXO ·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Lo que no se tocó es tan importante como lo nuevo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La compatibilidad conceptual permite evolucionar sin obligar al equipo a reaprender el núcleo.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975104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56816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920240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OpenSpec sigue debajo</a:t>
            </a:r>
          </a:p>
        </p:txBody>
      </p:sp>
      <p:sp>
        <p:nvSpPr>
          <p:cNvPr id="10" name="Oval 9"/>
          <p:cNvSpPr/>
          <p:nvPr/>
        </p:nvSpPr>
        <p:spPr>
          <a:xfrm>
            <a:off x="6236207" y="1975104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1956816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7" y="1920240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3 macrofases y 4 roles originales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779776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24912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Pre-flight humano antes de actuar</a:t>
            </a:r>
          </a:p>
        </p:txBody>
      </p:sp>
      <p:sp>
        <p:nvSpPr>
          <p:cNvPr id="16" name="Oval 15"/>
          <p:cNvSpPr/>
          <p:nvPr/>
        </p:nvSpPr>
        <p:spPr>
          <a:xfrm>
            <a:off x="6236207" y="2779776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2761488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7" y="2724912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Auditoría append-only en openspec/audit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584448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566160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529584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AGENTS.md como ancla idempotente</a:t>
            </a:r>
          </a:p>
        </p:txBody>
      </p:sp>
      <p:sp>
        <p:nvSpPr>
          <p:cNvPr id="22" name="Oval 21"/>
          <p:cNvSpPr/>
          <p:nvPr/>
        </p:nvSpPr>
        <p:spPr>
          <a:xfrm>
            <a:off x="6236207" y="3584448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3566160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529584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Referencias con carga diferida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4389120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370832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334256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Alias native-ai siguen funcionando</a:t>
            </a:r>
          </a:p>
        </p:txBody>
      </p:sp>
      <p:sp>
        <p:nvSpPr>
          <p:cNvPr id="28" name="Oval 27"/>
          <p:cNvSpPr/>
          <p:nvPr/>
        </p:nvSpPr>
        <p:spPr>
          <a:xfrm>
            <a:off x="6236207" y="4389120"/>
            <a:ext cx="320040" cy="320040"/>
          </a:xfrm>
          <a:prstGeom prst="ellipse">
            <a:avLst/>
          </a:prstGeom>
          <a:solidFill>
            <a:srgbClr val="008F83"/>
          </a:solidFill>
          <a:ln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7" y="4370832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96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7" y="4334256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6"/>
              </a:spcAft>
              <a:defRPr sz="1050" b="1">
                <a:solidFill>
                  <a:srgbClr val="17324D"/>
                </a:solidFill>
                <a:latin typeface="Arial"/>
              </a:defRPr>
            </a:pPr>
            <a:r>
              <a:t>9 principios fundacionales conservados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63072" cy="713232"/>
          </a:xfrm>
          <a:prstGeom prst="roundRect">
            <a:avLst/>
          </a:prstGeom>
          <a:solidFill>
            <a:srgbClr val="DDF2EE"/>
          </a:solidFill>
          <a:ln w="12700">
            <a:solidFill>
              <a:srgbClr val="DD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495544"/>
            <a:ext cx="10369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28"/>
              </a:spcAft>
              <a:defRPr sz="1070" b="1">
                <a:solidFill>
                  <a:srgbClr val="17324D"/>
                </a:solidFill>
                <a:latin typeface="Arial"/>
              </a:defRPr>
            </a:pPr>
            <a:r>
              <a:t>Prueba de continuidad: ninguna mejora necesita negar «especificar antes de implementar»; amplía dónde empieza, dónde termina o quién ejecuta.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8"/>
              </a:spcAft>
              <a:defRPr sz="900" b="1">
                <a:solidFill>
                  <a:srgbClr val="0072BC"/>
                </a:solidFill>
                <a:latin typeface="Arial"/>
              </a:defRPr>
            </a:pPr>
            <a:r>
              <a:t>ANEXO · HONESTIDAD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7324D"/>
                </a:solidFill>
                <a:latin typeface="Arial"/>
              </a:defRPr>
            </a:pPr>
            <a:r>
              <a:t>El precio de la evolución — y la evidencia usada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6"/>
              </a:spcAft>
              <a:defRPr sz="1050" b="0">
                <a:solidFill>
                  <a:srgbClr val="3F556A"/>
                </a:solidFill>
                <a:latin typeface="Arial"/>
              </a:defRPr>
            </a:pPr>
            <a:r>
              <a:t>Más capacidad implica más superficie, deuda documental y una adopción que debe ser deliberada.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83111" cy="1828"/>
          </a:xfrm>
          <a:prstGeom prst="rect">
            <a:avLst/>
          </a:prstGeom>
          <a:solidFill>
            <a:srgbClr val="D7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64008" cy="1993392"/>
          </a:xfrm>
          <a:prstGeom prst="rect">
            <a:avLst/>
          </a:prstGeom>
          <a:solidFill>
            <a:srgbClr val="E8792E"/>
          </a:solidFill>
          <a:ln w="12700">
            <a:solidFill>
              <a:srgbClr val="E87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391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E8792E"/>
                </a:solidFill>
                <a:latin typeface="Arial"/>
              </a:defRPr>
            </a:pPr>
            <a:r>
              <a:t>COSTE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134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Más piezas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16352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3 skills y 7 comandos se leen en una tarde. 34 skills y 6 plugins exigen arquitectura de adopción, ownership y formación.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874519"/>
            <a:ext cx="3401568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3087" y="1874519"/>
            <a:ext cx="64008" cy="1993392"/>
          </a:xfrm>
          <a:prstGeom prst="rect">
            <a:avLst/>
          </a:prstGeom>
          <a:solidFill>
            <a:srgbClr val="C94B48"/>
          </a:solidFill>
          <a:ln w="12700">
            <a:solidFill>
              <a:srgbClr val="C94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20391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C94B48"/>
                </a:solidFill>
                <a:latin typeface="Arial"/>
              </a:defRPr>
            </a:pPr>
            <a:r>
              <a:t>COSTE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3134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Dos velocidades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816352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La metodología troncal va por detrás de capacidades ya operativas en AISDD, AIBA, AIAD y AIFG.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1874519"/>
            <a:ext cx="389534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9248" y="1874519"/>
            <a:ext cx="64008" cy="1993392"/>
          </a:xfrm>
          <a:prstGeom prst="rect">
            <a:avLst/>
          </a:prstGeom>
          <a:solidFill>
            <a:srgbClr val="008F83"/>
          </a:solidFill>
          <a:ln w="127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2039112"/>
            <a:ext cx="3511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8F83"/>
                </a:solidFill>
                <a:latin typeface="Arial"/>
              </a:defRPr>
            </a:pPr>
            <a:r>
              <a:t>RESPUESTA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313432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7324D"/>
                </a:solidFill>
                <a:latin typeface="Arial"/>
              </a:defRPr>
            </a:pPr>
            <a:r>
              <a:t>Adopción por capas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2816352"/>
            <a:ext cx="35112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"/>
              </a:spcAft>
              <a:defRPr sz="919" b="0">
                <a:solidFill>
                  <a:srgbClr val="3F556A"/>
                </a:solidFill>
                <a:latin typeface="Arial"/>
              </a:defRPr>
            </a:pPr>
            <a:r>
              <a:t>Núcleo primero; negocio, diseño y human-first solo cuando el proyecto puede convertirlos en valor.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110276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89120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2"/>
              </a:spcAft>
              <a:defRPr sz="850" b="1">
                <a:solidFill>
                  <a:srgbClr val="0072BC"/>
                </a:solidFill>
                <a:latin typeface="Arial"/>
              </a:defRPr>
            </a:pPr>
            <a:r>
              <a:t>FUENTES DE CONTRASTE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4315968"/>
            <a:ext cx="8714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21"/>
              </a:spcAft>
              <a:defRPr sz="1010" b="1">
                <a:solidFill>
                  <a:srgbClr val="17324D"/>
                </a:solidFill>
                <a:latin typeface="Arial"/>
              </a:defRPr>
            </a:pPr>
            <a:r>
              <a:t>ai-native.md v2.0 · native-ai-specs v1.6.0 · marketplace.json · plugin.json · 34 SKILL.md · metodologías AIDD/AISDD/AIBA/AIAD · 12 check_*.py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104058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5"/>
              </a:spcAft>
              <a:defRPr sz="880" b="0">
                <a:solidFill>
                  <a:srgbClr val="71808E"/>
                </a:solidFill>
                <a:latin typeface="Arial"/>
              </a:defRPr>
            </a:pPr>
            <a:r>
              <a:t>Corte de datos: 09/09/2026 · Marketplace VERSION 1.46.1 · Las cifras son conteos; las valoraciones cualitativas son interpretación del equipo.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916168"/>
            <a:ext cx="11027664" cy="347472"/>
          </a:xfrm>
          <a:prstGeom prst="roundRect">
            <a:avLst/>
          </a:prstGeom>
          <a:solidFill>
            <a:srgbClr val="0D2942"/>
          </a:solidFill>
          <a:ln w="12700"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980176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4"/>
              </a:spcAft>
              <a:defRPr sz="869" b="1">
                <a:solidFill>
                  <a:srgbClr val="FFFFFF"/>
                </a:solidFill>
                <a:latin typeface="Arial"/>
              </a:defRPr>
            </a:pPr>
            <a:r>
              <a:t>CONCLUSIÓN  ·  Native AI conserva su promesa original y ahora puede sostenerla desde la conversación con el cliente hasta la decisión basada en evidencia.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1"/>
              </a:spcAft>
              <a:defRPr sz="680" b="0">
                <a:solidFill>
                  <a:srgbClr val="71808E"/>
                </a:solidFill>
                <a:latin typeface="Arial"/>
              </a:defRPr>
            </a:pPr>
            <a:r>
              <a:t>Fuente: repositorio aidd-marketplace · VERSION 1.46.1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6"/>
              </a:spcAft>
              <a:defRPr sz="720" b="1">
                <a:solidFill>
                  <a:srgbClr val="71808E"/>
                </a:solidFill>
                <a:latin typeface="Arial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Evolución de Native AI — resumen ejecutivo</dc:title>
  <dc:subject>Comparativa entre la metodología original, native-ai-specs v1.6.0 y el marketplace</dc:subject>
  <dc:creator>NTT DATA Spain GDN-e</dc:creator>
  <cp:keywords>Native AI, AIDD, AISDD, AIBA, AIAD, AIFG, ejecutivo</cp:keywords>
  <dc:description>Generado de forma reproducible con generate.py. Issue #47.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