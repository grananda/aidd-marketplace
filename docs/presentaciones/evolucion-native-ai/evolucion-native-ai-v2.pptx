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75488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NTT DATA SPAIN · GDN-e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8138160" cy="10789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84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Evolución de Native AI en un proyecto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8046720" cy="8412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0">
                <a:solidFill>
                  <a:srgbClr val="C6D6E3"/>
                </a:solidFill>
                <a:latin typeface="Arial"/>
              </a:defRPr>
            </a:pPr>
            <a:r>
              <a:t>Qué cambió al aplicar la metodología original con clientes: más cobertura, más control y evidencia medible.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658368"/>
            <a:ext cx="2487168" cy="523036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54312" y="1078992"/>
            <a:ext cx="512064" cy="512064"/>
          </a:xfrm>
          <a:prstGeom prst="ellipse">
            <a:avLst/>
          </a:prstGeom>
          <a:solidFill>
            <a:srgbClr val="DCEEF8"/>
          </a:solidFill>
          <a:ln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54312" y="1097280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0072B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40112" y="1143000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ESPECIFICAR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10344" y="1645919"/>
            <a:ext cx="1828" cy="731519"/>
          </a:xfrm>
          <a:prstGeom prst="rect">
            <a:avLst/>
          </a:prstGeom>
          <a:solidFill>
            <a:srgbClr val="4B6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54312" y="2523744"/>
            <a:ext cx="512064" cy="512064"/>
          </a:xfrm>
          <a:prstGeom prst="ellipse">
            <a:avLst/>
          </a:prstGeom>
          <a:solidFill>
            <a:srgbClr val="DDF2EE"/>
          </a:solidFill>
          <a:ln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2542032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008F83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2587751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ENTREGAR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10344" y="3090672"/>
            <a:ext cx="1828" cy="731519"/>
          </a:xfrm>
          <a:prstGeom prst="rect">
            <a:avLst/>
          </a:prstGeom>
          <a:solidFill>
            <a:srgbClr val="4B6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54312" y="3968496"/>
            <a:ext cx="512064" cy="512064"/>
          </a:xfrm>
          <a:prstGeom prst="ellipse">
            <a:avLst/>
          </a:prstGeom>
          <a:solidFill>
            <a:srgbClr val="FCE9DC"/>
          </a:solidFill>
          <a:ln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3986783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E8792E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032504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MEDIR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901952" cy="3840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" y="5047488"/>
            <a:ext cx="175564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8"/>
              </a:spcAft>
              <a:defRPr sz="819" b="1">
                <a:solidFill>
                  <a:srgbClr val="FFFFFF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AFC2D1"/>
                </a:solidFill>
                <a:latin typeface="Arial"/>
              </a:defRPr>
            </a:pPr>
            <a:r>
              <a:t>Metodología original → aprendizaje en cliente → marketplace v1.46.1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3504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7292A9"/>
                </a:solidFill>
                <a:latin typeface="Arial"/>
              </a:defRPr>
            </a:pPr>
            <a:r>
              <a:t>Las tres primeras diapositivas son el resumen ejecutivo y se entienden solas. El informe completo está en evolucion-native-ai.html.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Comparativa verificada sobre metodología v2.0, native-ai-specs v1.6.0 y marketplace v1.46.1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 · 1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Ocho cosas que el método hace hoy y antes no podía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 cualitativo: qué cambió en el proceso. Ninguna sustituye al método original; todas lo extienden.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828800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3"/>
              </a:spcAft>
              <a:defRPr sz="780" b="1">
                <a:solidFill>
                  <a:srgbClr val="71808E"/>
                </a:solidFill>
                <a:latin typeface="Arial"/>
              </a:defRPr>
            </a:pPr>
            <a:r>
              <a:t>ÁREA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828800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3"/>
              </a:spcAft>
              <a:defRPr sz="780" b="1">
                <a:solidFill>
                  <a:srgbClr val="A9B4BE"/>
                </a:solidFill>
                <a:latin typeface="Arial"/>
              </a:defRPr>
            </a:pPr>
            <a:r>
              <a:t>ANTES  ·  NATIVE AI SPECS v1.6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3"/>
              </a:spcAft>
              <a:defRPr sz="780" b="1">
                <a:solidFill>
                  <a:srgbClr val="0072BC"/>
                </a:solidFill>
                <a:latin typeface="Arial"/>
              </a:defRPr>
            </a:pPr>
            <a:r>
              <a:t>AHORA  ·  MARKETPLACE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2103120"/>
            <a:ext cx="11027664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185416"/>
            <a:ext cx="110642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231136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Alcance del método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231136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Empezaba en el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3113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Del brief del cliente al KPI con el que se juzga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670048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Interfaz con el negocio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670048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Fuera de su 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7004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Diseño funcional firmable, pruebas, sprints e informe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63240"/>
            <a:ext cx="110642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108960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Diseño de producto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108960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Solo la guía de estilos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108960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Figma normalizado hasta la historia que lo implementa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3547872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Trabajo en paralelo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547872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Oleadas, sin comprobar 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54787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Tres modos, y dicho cuál garantiza aislamiento y cuál no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941063"/>
            <a:ext cx="110642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986783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Reparto del repositorio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986783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Todo dentro de uno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986783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Tres repartos, incluido el caso real de cliente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4425696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Evidencia del valor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425696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Auditoría que nadie explotaba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KPIs cruzados con el worklog real de Jira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18888"/>
            <a:ext cx="110642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4864608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Quién escribe el código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4864608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Siempre la 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8646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Elegible historia a historia, y conmutable a mitad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5303520"/>
            <a:ext cx="23225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7324D"/>
                </a:solidFill>
                <a:latin typeface="Arial"/>
              </a:defRPr>
            </a:pPr>
            <a:r>
              <a:t>Calidad y distribución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5303520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Revisión humana y copia manual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303520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3F556A"/>
                </a:solidFill>
                <a:latin typeface="Arial"/>
              </a:defRPr>
            </a:pPr>
            <a:r>
              <a:t>Doce comprobaciones en CI, y plugins con semver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779008"/>
            <a:ext cx="11064240" cy="530352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888736"/>
            <a:ext cx="105521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TESIS  ·  El método sabía construir software sin desviarse de lo pedido; ahora llega hasta el cliente que firma y la cifra con la que nos juzgan.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 · 2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salto, medido sobre los artefactos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 cuantitativo: cinco indicadores contados sobre los ficheros de uno y otro procedimiento. Ninguno es una estimación.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316736" y="2523744"/>
            <a:ext cx="411480" cy="173736"/>
          </a:xfrm>
          <a:prstGeom prst="rightArrow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4792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0072BC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20439" y="2523744"/>
            <a:ext cx="411480" cy="173736"/>
          </a:xfrm>
          <a:prstGeom prst="rightArrow">
            <a:avLst/>
          </a:prstGeom>
          <a:solidFill>
            <a:srgbClr val="16A9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16A9C7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4336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FASES CON HERRAMIENTA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3/8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24144" y="2523744"/>
            <a:ext cx="411480" cy="173736"/>
          </a:xfrm>
          <a:prstGeom prst="rightArrow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008F83"/>
                </a:solidFill>
                <a:latin typeface="Arial"/>
              </a:defRPr>
            </a:pPr>
            <a:r>
              <a:t>8/8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DE BRIEF A MEDICIÓN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78040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REPARTOS DE REPOSITORIO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8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927848" y="2523744"/>
            <a:ext cx="411480" cy="173736"/>
          </a:xfrm>
          <a:prstGeom prst="rightArrow">
            <a:avLst/>
          </a:prstGeom>
          <a:solidFill>
            <a:srgbClr val="E87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E8792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1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MONO · FRACCIONADO · EXTERNO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81744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6336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CHECKS 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2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0131552" y="2523744"/>
            <a:ext cx="411480" cy="173736"/>
          </a:xfrm>
          <a:prstGeom prst="rightArrow">
            <a:avLst/>
          </a:prstGeom>
          <a:solidFill>
            <a:srgbClr val="C94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79608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C94B4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6336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EN CADA PULL REQUEST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204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QUÉ DICEN REALMENTE LAS CIFRAS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9808" y="4224528"/>
            <a:ext cx="329184" cy="329184"/>
          </a:xfrm>
          <a:prstGeom prst="ellipse">
            <a:avLst/>
          </a:prstGeom>
          <a:solidFill>
            <a:srgbClr val="DCEEF8"/>
          </a:solidFill>
          <a:ln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5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5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La automatización ya acompaña al proyecto completo, no solo a la ejecución.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70248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53128" y="4224528"/>
            <a:ext cx="329184" cy="329184"/>
          </a:xfrm>
          <a:prstGeom prst="ellipse">
            <a:avLst/>
          </a:prstGeom>
          <a:solidFill>
            <a:srgbClr val="DDF2EE"/>
          </a:solidFill>
          <a:ln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53128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8616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Modularidad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La capacidad se instala por necesidad: seis plugins, no una suite monolítica.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7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156447" y="4224528"/>
            <a:ext cx="329184" cy="329184"/>
          </a:xfrm>
          <a:prstGeom prst="ellipse">
            <a:avLst/>
          </a:prstGeom>
          <a:solidFill>
            <a:srgbClr val="FCE9DC"/>
          </a:solidFill>
          <a:ln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56447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1936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Control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1936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El método se valida en CI y deja evidencia auditable de cada transición.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5669280"/>
            <a:ext cx="11064240" cy="530352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5779008"/>
            <a:ext cx="1055217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EN CIFRAS  ·  Once veces más piezas instalables, casi seis comandos por cada uno que había, y los ocho tramos del proyecto con herramienta en vez de tres.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Conteo: SKILL.md, comandos publicados, topologías AISDD y check_*.py · 09/09/2026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 · 3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herramienta ya no empieza a mitad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metodología describía el recorrido; el marketplace convierte cada tramo en una capacidad ejecutable.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7168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REQUISITOS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24144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VALIDACIÓN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MEDICIÓN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Método 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780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definía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7168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7168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24144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24144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3136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03136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82127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7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40112" y="21305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0906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Tooling v1.6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3924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automatizaba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87168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66160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645152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24144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24144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03136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03136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82127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7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20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040112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0050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Marketplace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3068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ejecuta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87168" y="39593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87168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66160" y="39593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66160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45152" y="3959352"/>
            <a:ext cx="996695" cy="621792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45152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24144" y="3959352"/>
            <a:ext cx="996695" cy="621792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24144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03136" y="3959352"/>
            <a:ext cx="996695" cy="62179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3136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882127" y="3959352"/>
            <a:ext cx="996695" cy="62179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82127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20" y="3959352"/>
            <a:ext cx="996695" cy="621792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20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40112" y="3959352"/>
            <a:ext cx="996695" cy="621792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40112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4974336"/>
            <a:ext cx="10972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0392" y="5138928"/>
            <a:ext cx="2084831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E8792E"/>
                </a:solidFill>
                <a:latin typeface="Arial"/>
              </a:defRPr>
            </a:pPr>
            <a:r>
              <a:t>La diferencia clave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80360" y="5102352"/>
            <a:ext cx="8275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17324D"/>
                </a:solidFill>
                <a:latin typeface="Arial"/>
              </a:defRPr>
            </a:pPr>
            <a:r>
              <a:t>No se inventaron requisitos, historias o arquitectura: se transformaron guiones manuales en contratos ejecutables y salidas consistentes.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4360" y="5888736"/>
            <a:ext cx="10972800" cy="45720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0392" y="5971032"/>
            <a:ext cx="10460736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FIN DEL RESUMEN EJECUTIVO  ·  Lo que sigue es el detalle. El informe completo, mejora a mejora, está en evolucion-native-ai.html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Criterio de fase: 8 tramos operativos de brief a medición; ‘definía’ no equivale a ‘tenía herramienta’.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ARQUITECTURA DE LA EVOLUCIÓN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Tres capas; una sola línea de continuidad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Cada capa conserva la anterior y amplía la promesa que puede cumplir.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4553712"/>
            <a:ext cx="10881360" cy="105156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718304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1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4700016"/>
            <a:ext cx="7635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Especificación como motor · documentos como verdad · human-in-the-loop · roles y handoffs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53312" y="3310128"/>
            <a:ext cx="9491472" cy="1051560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3474720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2 · PROCEDIMIENTO EJECUTABLE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3456432"/>
            <a:ext cx="6245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OpenSpec · pre-flight · roadmap consciente del contexto · auditoría obligatoria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2066543"/>
            <a:ext cx="8101583" cy="1051560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22576" y="223113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3 · SISTEMA DE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212848"/>
            <a:ext cx="4855464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Cliente y negocio · dos motores de ejecución · diseño real · medición · CI · multirepo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350008"/>
            <a:ext cx="1078992" cy="32918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51392" y="2368296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E8792E"/>
                </a:solidFill>
                <a:latin typeface="Arial"/>
              </a:defRPr>
            </a:pPr>
            <a:r>
              <a:t>NUEVO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3593592"/>
            <a:ext cx="1078992" cy="329184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8048" y="3611880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0072BC"/>
                </a:solidFill>
                <a:latin typeface="Arial"/>
              </a:defRPr>
            </a:pPr>
            <a:r>
              <a:t>EJECUTA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31552" y="4837176"/>
            <a:ext cx="1078992" cy="329184"/>
          </a:xfrm>
          <a:prstGeom prst="roundRect">
            <a:avLst/>
          </a:prstGeom>
          <a:solidFill>
            <a:srgbClr val="31506A"/>
          </a:solidFill>
          <a:ln w="12700">
            <a:solidFill>
              <a:srgbClr val="315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04704" y="4855464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CONSERVA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87959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17324D"/>
                </a:solidFill>
                <a:latin typeface="Arial"/>
              </a:defRPr>
            </a:pPr>
            <a:r>
              <a:t>Lectura ejecutiva: el marketplace no compite con Native AI; convierte su filosofía en una capacidad operativa, distribuible y gobernable.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ECOSISTEMA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Seis plugins, organizados alrededor de una única fuente de verdad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modularidad permite instalar solo la superficie que el proyecto necesita.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69080" y="2359152"/>
            <a:ext cx="4041648" cy="196596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7408" y="2651760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FUENTE DE VERDAD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3063240"/>
            <a:ext cx="3364992" cy="54864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16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HU · arquitectura · specs · decisiones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749039"/>
            <a:ext cx="336499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B8CBD9"/>
                </a:solidFill>
                <a:latin typeface="Arial"/>
              </a:defRPr>
            </a:pPr>
            <a:r>
              <a:t>Documentos versionados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874519"/>
            <a:ext cx="73152" cy="1234440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029967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AIDD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22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Define el qué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15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brief → requisitos →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60520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160520"/>
            <a:ext cx="73152" cy="1234440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AIBA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08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Da la cara al negocio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001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firma → plan → estado → KPI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68512" y="1874519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8512" y="1874519"/>
            <a:ext cx="73152" cy="1234440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6256" y="2029967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AISDD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6256" y="2322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Ejecuta con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6" y="2715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change → código → validación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68512" y="4160520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68512" y="4160520"/>
            <a:ext cx="73152" cy="123444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06256" y="4315968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AIAD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4608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Aumenta al humano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5001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pensar → escribir → aprender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0752" y="4864608"/>
            <a:ext cx="217627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30752" y="4864608"/>
            <a:ext cx="73152" cy="1234440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5020056"/>
            <a:ext cx="1773936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C94B48"/>
                </a:solidFill>
                <a:latin typeface="Arial"/>
              </a:defRPr>
            </a:pPr>
            <a:r>
              <a:t>AIFG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68496" y="5312664"/>
            <a:ext cx="1773936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Conecta diseño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5705856"/>
            <a:ext cx="177393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Figma → componente → HU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2784" y="4864608"/>
            <a:ext cx="217627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4864608"/>
            <a:ext cx="73152" cy="1234440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5020056"/>
            <a:ext cx="1773936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3F556A"/>
                </a:solidFill>
                <a:latin typeface="Arial"/>
              </a:defRPr>
            </a:pPr>
            <a:r>
              <a:t>BOOSTERS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5312664"/>
            <a:ext cx="1773936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Visualiza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5705856"/>
            <a:ext cx="177393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UX · UML · HTML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66160" y="233172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8183879" y="233172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3566160" y="448056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8183879" y="448056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Inventario actual: 6 plugins · 34 skills · 41 comandos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EJECUCIÓN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proyecto puede elegir quién lleva las manos en el teclado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AISDD y AIAD comparten la HU como unidad estable; cambia el motor de ejecución.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965960"/>
            <a:ext cx="5230368" cy="3429000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258568"/>
            <a:ext cx="1234440" cy="34747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276856"/>
            <a:ext cx="1088136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AI-ENGINE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12"/>
              </a:spcAft>
              <a:defRPr sz="2600" b="1">
                <a:solidFill>
                  <a:srgbClr val="17324D"/>
                </a:solidFill>
                <a:latin typeface="Arial"/>
              </a:defRPr>
            </a:pPr>
            <a:r>
              <a:t>AISDD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64992"/>
            <a:ext cx="4526280" cy="5943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0">
                <a:solidFill>
                  <a:srgbClr val="3F556A"/>
                </a:solidFill>
                <a:latin typeface="Arial"/>
              </a:defRPr>
            </a:pPr>
            <a:r>
              <a:t>La IA implementa contra una especificación aprobada; la persona dirige, valida y decide.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open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13432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6584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implement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8184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1336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920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1">
                <a:solidFill>
                  <a:srgbClr val="0072BC"/>
                </a:solidFill>
                <a:latin typeface="Arial"/>
              </a:defRPr>
            </a:pPr>
            <a:r>
              <a:t>Optimiza velocidad, consistencia y trazabilidad.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65960"/>
            <a:ext cx="5230368" cy="3429000"/>
          </a:xfrm>
          <a:prstGeom prst="roundRect">
            <a:avLst/>
          </a:prstGeom>
          <a:solidFill>
            <a:srgbClr val="DDF2EE"/>
          </a:solidFill>
          <a:ln w="12700"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0256" y="2258568"/>
            <a:ext cx="1481328" cy="34747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2276856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HUMAN-ENGINE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278892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12"/>
              </a:spcAft>
              <a:defRPr sz="2600" b="1">
                <a:solidFill>
                  <a:srgbClr val="17324D"/>
                </a:solidFill>
                <a:latin typeface="Arial"/>
              </a:defRPr>
            </a:pPr>
            <a:r>
              <a:t>AIAD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3364992"/>
            <a:ext cx="4526280" cy="5943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0">
                <a:solidFill>
                  <a:srgbClr val="3F556A"/>
                </a:solidFill>
                <a:latin typeface="Arial"/>
              </a:defRPr>
            </a:pPr>
            <a:r>
              <a:t>La persona escribe; la IA explica, pregunta, prueba, revisa y acompaña cuando se la invoca.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0256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think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2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8920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1">
                <a:solidFill>
                  <a:srgbClr val="008F83"/>
                </a:solidFill>
                <a:latin typeface="Arial"/>
              </a:defRPr>
            </a:pPr>
            <a:r>
              <a:t>Optimiza autoría, aprendizaje y oficio.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56048" y="1746504"/>
            <a:ext cx="2267712" cy="32918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176479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3"/>
              </a:spcAft>
              <a:defRPr sz="780" b="1">
                <a:solidFill>
                  <a:srgbClr val="FFFFFF"/>
                </a:solidFill>
                <a:latin typeface="Arial"/>
              </a:defRPr>
            </a:pPr>
            <a:r>
              <a:t>BRIDGE · HU ↔ CHANGE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5669280"/>
            <a:ext cx="10981944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5769864"/>
            <a:ext cx="1044244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Decisión por historia: no todo trabajo maximiza el mismo valor, y el motor puede cambiar a mitad sin perder la trazabilidad.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evolución cierra los dos extremos que el código no cubre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Antes del change está el cliente. Después del merge está la decisión de negocio.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1" y="2084831"/>
            <a:ext cx="566928" cy="56692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73736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Qué necesita</a:t>
            </a:r>
          </a:p>
        </p:txBody>
      </p:sp>
      <p:sp>
        <p:nvSpPr>
          <p:cNvPr id="12" name="Oval 11"/>
          <p:cNvSpPr/>
          <p:nvPr/>
        </p:nvSpPr>
        <p:spPr>
          <a:xfrm>
            <a:off x="2953512" y="2084831"/>
            <a:ext cx="566928" cy="56692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5760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Contrato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RF · HU · DF</a:t>
            </a:r>
          </a:p>
        </p:txBody>
      </p:sp>
      <p:sp>
        <p:nvSpPr>
          <p:cNvPr id="17" name="Oval 16"/>
          <p:cNvSpPr/>
          <p:nvPr/>
        </p:nvSpPr>
        <p:spPr>
          <a:xfrm>
            <a:off x="4873752" y="2084831"/>
            <a:ext cx="566928" cy="56692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75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57784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Arquitectura · Figma</a:t>
            </a:r>
          </a:p>
        </p:txBody>
      </p:sp>
      <p:sp>
        <p:nvSpPr>
          <p:cNvPr id="22" name="Oval 21"/>
          <p:cNvSpPr/>
          <p:nvPr/>
        </p:nvSpPr>
        <p:spPr>
          <a:xfrm>
            <a:off x="6793992" y="2084831"/>
            <a:ext cx="566928" cy="56692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9808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Change · código · tests</a:t>
            </a:r>
          </a:p>
        </p:txBody>
      </p:sp>
      <p:sp>
        <p:nvSpPr>
          <p:cNvPr id="27" name="Oval 26"/>
          <p:cNvSpPr/>
          <p:nvPr/>
        </p:nvSpPr>
        <p:spPr>
          <a:xfrm>
            <a:off x="8714232" y="2084831"/>
            <a:ext cx="566928" cy="56692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1832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Plan · estado · auditoría</a:t>
            </a:r>
          </a:p>
        </p:txBody>
      </p:sp>
      <p:sp>
        <p:nvSpPr>
          <p:cNvPr id="32" name="Oval 31"/>
          <p:cNvSpPr/>
          <p:nvPr/>
        </p:nvSpPr>
        <p:spPr>
          <a:xfrm>
            <a:off x="10634472" y="2084831"/>
            <a:ext cx="566928" cy="56692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3447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Decisión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KPI medido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315968"/>
            <a:ext cx="5349240" cy="1143000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535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EXTREMO CLIENTE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4462272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AIDD + AIBA convierten conversaciones en entregables revisables y firmables.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6208" y="4315968"/>
            <a:ext cx="5349240" cy="1143000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535424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EXTREMO EVIDENCIA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462272"/>
            <a:ext cx="3072384" cy="47548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AIBA explota auditoría y Jira sin disfrazar estimaciones de resultados medidos.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ESCALA Y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metodología deja de depender de la memoria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Las convenciones se convierten en decisiones explícitas, verificaciones y evidencia.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47672"/>
            <a:ext cx="64008" cy="157276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DUDAS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Pre-flight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Bloqueantes siempre; preferencias configurables; decisiones persistidas.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947672"/>
            <a:ext cx="64008" cy="1572768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PARALELISMO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3 modos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atomic · waves · multilane, con garantías declaradas y barreras.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947672"/>
            <a:ext cx="64008" cy="157276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REPOS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3 topologías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mono · fraccionado · gobierno externo, sin inventar un repo padre.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49624"/>
            <a:ext cx="64008" cy="157276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Auditoría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Hashes, modelo, entradas, salidas y decisiones; sin guardar contenido sensible.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49624"/>
            <a:ext cx="64008" cy="1572768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CALIDAD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12 checks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Contratos, manifiestos, referencias, scripts, HTML y versiones.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8431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28431" y="3849624"/>
            <a:ext cx="64008" cy="1572768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3F556A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6 plugins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Semver independiente e instalación reversible por necesidad.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815584"/>
            <a:ext cx="11027664" cy="384048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5888736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Resultado: el método puede crecer en personas, repositorios y plataformas sin perder el contrato que lo hace reconocible.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ADOPCIÓN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No hace falta adoptar 34 skills el primer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unidad de adopción es el problema que se quiere resolver, no el marketplace completo.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4800600"/>
            <a:ext cx="2971800" cy="89611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965192"/>
            <a:ext cx="253288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1 · FLUJO MÍNIMO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85232"/>
            <a:ext cx="2532888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AIDD + AISDD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913632"/>
            <a:ext cx="2971800" cy="1783080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4078224"/>
            <a:ext cx="253288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2 · CLIENTE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4398264"/>
            <a:ext cx="2532888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+ AIBA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4176" y="4946904"/>
            <a:ext cx="2532888" cy="54863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Firmables, pruebas, planificación, estado y KPIs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026664"/>
            <a:ext cx="2523744" cy="26700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3191256"/>
            <a:ext cx="2084831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3 · DISEÑO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3511296"/>
            <a:ext cx="2084831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+ AIFG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4059935"/>
            <a:ext cx="2084831" cy="14356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Figma llega a la HU sin cargar el árbol entero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95944" y="2139696"/>
            <a:ext cx="2578608" cy="355701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304288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4 · ELECCIÓN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624328"/>
            <a:ext cx="2139696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AISDD ↔ AIAD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172968"/>
            <a:ext cx="2139696" cy="23225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Elegir IA o humano como motor por historia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1938528"/>
            <a:ext cx="516636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10"/>
              </a:spcAft>
              <a:defRPr sz="1750" b="1">
                <a:solidFill>
                  <a:srgbClr val="17324D"/>
                </a:solidFill>
                <a:latin typeface="Arial"/>
              </a:defRPr>
            </a:pPr>
            <a:r>
              <a:t>Empieza por el núcleo. Añade superficie solo cuando aparece el coste que esa superficie evita.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16352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9"/>
              </a:spcAft>
              <a:defRPr sz="1080" b="0">
                <a:solidFill>
                  <a:srgbClr val="3F556A"/>
                </a:solidFill>
                <a:latin typeface="Arial"/>
              </a:defRPr>
            </a:pPr>
            <a:r>
              <a:t>Para un proyecto pequeño, AIDD + AISDD ya completan el recorrido. AIBA compensa cuando hay cliente, gobierno y reporting; AIFG cuando el diseño es contrato; AIAD cuando importa la autoría humana.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Qué conviene conservar, consolidar y hacer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Una recomendación ejecutiva, con la contrapartida a la vista.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38528"/>
            <a:ext cx="64008" cy="321868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CONSERVAR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El núcleo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Especificación antes de código, documentos como fuente de verdad, aprobación humana, changes pequeños y auditoría. Es la identidad del método.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938528"/>
            <a:ext cx="64008" cy="321868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CONSOLIDAR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La plataforma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Presentar los seis plugins como capas de una cadena y no como un catálogo. Medir adopción por problema resuelto, no por skills instalados.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938528"/>
            <a:ext cx="64008" cy="321868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RESOLVER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La deuda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Actualizar la metodología troncal para absorber paralelismo, topologías, Jira y las capas AIBA/AIAD/AIFG. Hoy los SKILL.md van por delante.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413248"/>
            <a:ext cx="11064240" cy="73152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559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DECISIÓN RECOMENDADA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5504688"/>
            <a:ext cx="827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Adoptar por capas y financiar la reconciliación metodológica antes de escalar el relato fuera del equipo.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1">
                <a:solidFill>
                  <a:srgbClr val="16A9C7"/>
                </a:solidFill>
                <a:latin typeface="Arial"/>
              </a:defRPr>
            </a:pPr>
            <a:r>
              <a:t>ANEXO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8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El detalle detrás del relato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87168"/>
            <a:ext cx="7498079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0">
                <a:solidFill>
                  <a:srgbClr val="C6D6E3"/>
                </a:solidFill>
                <a:latin typeface="Arial"/>
              </a:defRPr>
            </a:pPr>
            <a:r>
              <a:t>Procedimientos, inventario de skills, diez mejoras, continuidades, costes y fuentes de contraste.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A · Procedimientos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2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B · Plugins y 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C · Mejoras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44568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1" y="4562855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D · Continuidad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4544568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2" y="4562855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E · Costes y fuentes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Anexo técnico · las siguientes slides conservan el detalle para consulta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PROCEDIMIENTO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Los dos procedimientos, uno frente a otro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Mismo núcleo de especificación; distinta amplitud operativa.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2331720" cy="51206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112263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DIMENSIÓN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47088"/>
            <a:ext cx="4069080" cy="512064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9816" y="1956816"/>
            <a:ext cx="384962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NATIVE-AI-SPECS v1.6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1847088"/>
            <a:ext cx="4443984" cy="512064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0336" y="1956816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MARKETPLACE v1.46.1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432304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9631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Piezas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90088" y="2432304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8104" y="2496312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3 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2432304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8624" y="2496312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34 skills · 6 plugins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871216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35224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90088" y="2871216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18104" y="2935224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2871216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35224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374136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90088" y="3310128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18104" y="3374136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fases 3–5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310128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8624" y="3374136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fases 0–5 + entrega + medición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49039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813048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Roles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0088" y="3749039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4" y="3813048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0608" y="3749039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3813048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5 + cliente/negocio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187952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4251960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Paralelismo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90088" y="4187952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18104" y="4251960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oleadas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50608" y="4187952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78624" y="4251960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atomic · waves · multilane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626864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69087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Repositorios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90088" y="4626864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18104" y="4690872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uno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50608" y="4626864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78624" y="4690872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mono · fraccionado · externo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065776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" y="5129784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0088" y="5065776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18104" y="5129784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copia manual + check remoto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50608" y="5065776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8624" y="5129784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marketplace · semver · release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5504688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5568696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Control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90088" y="5504688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18104" y="5568696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auditoría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50608" y="5504688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78624" y="5568696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auditoría + 12 checks CI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6053328"/>
            <a:ext cx="11027664" cy="23774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9808" y="6080760"/>
            <a:ext cx="10661904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17324D"/>
                </a:solidFill>
                <a:latin typeface="Arial"/>
              </a:defRPr>
            </a:pPr>
            <a:r>
              <a:t>Lectura: la ligereza baja, pero la cobertura, la capacidad de escala y la interfaz con negocio suben.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Del cliente al código: AIDD, AISDD y AIBA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Los tres plugins que forman la cadena de entrega principal.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337560" cy="6766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AIDD ·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0072BC"/>
                </a:solidFill>
                <a:latin typeface="Arial"/>
              </a:defRPr>
            </a:pPr>
            <a:r>
              <a:t>DEFINIR Y DISEÑAR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118104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client-requirements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429000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requirements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739896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user-stories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050791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user-story-details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361688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prototype-architecture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672584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prototype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983480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2861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style-guide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294376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23951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architecture-proposal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5605272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5040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60520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0520" y="1874519"/>
            <a:ext cx="3337560" cy="676656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61688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AISDD ·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008F83"/>
                </a:solidFill>
                <a:latin typeface="Arial"/>
              </a:defRPr>
            </a:pPr>
            <a:r>
              <a:t>ESPECIFICAR Y EJECUTAR</a:t>
            </a:r>
          </a:p>
        </p:txBody>
      </p:sp>
      <p:sp>
        <p:nvSpPr>
          <p:cNvPr id="33" name="Oval 32"/>
          <p:cNvSpPr/>
          <p:nvPr/>
        </p:nvSpPr>
        <p:spPr>
          <a:xfrm>
            <a:off x="4370832" y="3118104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9431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aisdd-specs</a:t>
            </a:r>
          </a:p>
        </p:txBody>
      </p:sp>
      <p:sp>
        <p:nvSpPr>
          <p:cNvPr id="35" name="Oval 34"/>
          <p:cNvSpPr/>
          <p:nvPr/>
        </p:nvSpPr>
        <p:spPr>
          <a:xfrm>
            <a:off x="4370832" y="3429000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9431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aisdd-amend</a:t>
            </a:r>
          </a:p>
        </p:txBody>
      </p:sp>
      <p:sp>
        <p:nvSpPr>
          <p:cNvPr id="37" name="Oval 36"/>
          <p:cNvSpPr/>
          <p:nvPr/>
        </p:nvSpPr>
        <p:spPr>
          <a:xfrm>
            <a:off x="4370832" y="3739896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99431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9 comandos: init · roadmap · open</a:t>
            </a:r>
          </a:p>
        </p:txBody>
      </p:sp>
      <p:sp>
        <p:nvSpPr>
          <p:cNvPr id="39" name="Oval 38"/>
          <p:cNvSpPr/>
          <p:nvPr/>
        </p:nvSpPr>
        <p:spPr>
          <a:xfrm>
            <a:off x="4370832" y="4050791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implement · amend · close</a:t>
            </a:r>
          </a:p>
        </p:txBody>
      </p:sp>
      <p:sp>
        <p:nvSpPr>
          <p:cNvPr id="41" name="Oval 40"/>
          <p:cNvSpPr/>
          <p:nvPr/>
        </p:nvSpPr>
        <p:spPr>
          <a:xfrm>
            <a:off x="4370832" y="4361688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1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lane · prototype-ux · uml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4112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54112" y="1874519"/>
            <a:ext cx="3337560" cy="6766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AIBA · 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0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NEGOCIO, ENTREGA Y MEDICIÓN</a:t>
            </a:r>
          </a:p>
        </p:txBody>
      </p:sp>
      <p:sp>
        <p:nvSpPr>
          <p:cNvPr id="47" name="Oval 46"/>
          <p:cNvSpPr/>
          <p:nvPr/>
        </p:nvSpPr>
        <p:spPr>
          <a:xfrm>
            <a:off x="7964424" y="3118104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93024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functional-design</a:t>
            </a:r>
          </a:p>
        </p:txBody>
      </p:sp>
      <p:sp>
        <p:nvSpPr>
          <p:cNvPr id="49" name="Oval 48"/>
          <p:cNvSpPr/>
          <p:nvPr/>
        </p:nvSpPr>
        <p:spPr>
          <a:xfrm>
            <a:off x="7964424" y="3429000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test-plan</a:t>
            </a:r>
          </a:p>
        </p:txBody>
      </p:sp>
      <p:sp>
        <p:nvSpPr>
          <p:cNvPr id="51" name="Oval 50"/>
          <p:cNvSpPr/>
          <p:nvPr/>
        </p:nvSpPr>
        <p:spPr>
          <a:xfrm>
            <a:off x="7964424" y="3739896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93024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hu-review-plan</a:t>
            </a:r>
          </a:p>
        </p:txBody>
      </p:sp>
      <p:sp>
        <p:nvSpPr>
          <p:cNvPr id="53" name="Oval 52"/>
          <p:cNvSpPr/>
          <p:nvPr/>
        </p:nvSpPr>
        <p:spPr>
          <a:xfrm>
            <a:off x="7964424" y="4050791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93024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project-plan</a:t>
            </a:r>
          </a:p>
        </p:txBody>
      </p:sp>
      <p:sp>
        <p:nvSpPr>
          <p:cNvPr id="55" name="Oval 54"/>
          <p:cNvSpPr/>
          <p:nvPr/>
        </p:nvSpPr>
        <p:spPr>
          <a:xfrm>
            <a:off x="7964424" y="4361688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93024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sprint-planning</a:t>
            </a:r>
          </a:p>
        </p:txBody>
      </p:sp>
      <p:sp>
        <p:nvSpPr>
          <p:cNvPr id="57" name="Oval 56"/>
          <p:cNvSpPr/>
          <p:nvPr/>
        </p:nvSpPr>
        <p:spPr>
          <a:xfrm>
            <a:off x="7964424" y="4672584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61772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status-report</a:t>
            </a:r>
          </a:p>
        </p:txBody>
      </p:sp>
      <p:sp>
        <p:nvSpPr>
          <p:cNvPr id="59" name="Oval 58"/>
          <p:cNvSpPr/>
          <p:nvPr/>
        </p:nvSpPr>
        <p:spPr>
          <a:xfrm>
            <a:off x="7964424" y="4983480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3024" y="492861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metrics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Nombres abreviados: todos los skills llevan el prefijo de su plugin.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Autoría, diseño real y piezas compartidas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Capas opcionales que cambian el modo de trabajo sin romper el flujo principal.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239512" cy="4233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66543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6A9C7"/>
                </a:solidFill>
                <a:latin typeface="Arial"/>
              </a:defRPr>
            </a:pPr>
            <a:r>
              <a:t>AIAD · 11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60904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679192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PENSAR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2688336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design · explain · rubber-duck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6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255264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CONSTRUIR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3264408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tdd ·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13048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31335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MEJORAR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3840480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89120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7408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FLUIR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4416552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pair · bridge · unblock · save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65192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983479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REGISTRAR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4992624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86984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Principio: pull, no push. El humano conserva la autoría.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8" y="1847088"/>
            <a:ext cx="257860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8" y="1847088"/>
            <a:ext cx="64008" cy="1847088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01168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AIFG ·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Diseño → HU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788920"/>
            <a:ext cx="2194560" cy="768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capture normaliza Figma por componente e historia; update re-captura y mide el impacto.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42832" y="1847088"/>
            <a:ext cx="26517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42832" y="1847088"/>
            <a:ext cx="64008" cy="1847088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288" y="2011680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3F556A"/>
                </a:solidFill>
                <a:latin typeface="Arial"/>
              </a:defRPr>
            </a:pPr>
            <a:r>
              <a:t>BOOSTERS ·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286000"/>
            <a:ext cx="2267712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Visualizar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788920"/>
            <a:ext cx="2267712" cy="768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UX crea prototipos; UML explica changes; Docs convierte Markdown en vistas HTML.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023360"/>
            <a:ext cx="5495544" cy="205740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429768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POR QUÉ SON ADITIVOS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736592"/>
            <a:ext cx="4846320" cy="713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Sin AIFG, AISDD sigue leyendo la guía de estilos. Sin AIAD, AISDD sigue siendo el motor. Sin boosters, el contrato documental permanece: se pierde la vista, no la verdad.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MEJORAS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Diez mejoras que cambian el proceso, no solo el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Agrupadas por el problema operativo que resuelven.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75104"/>
            <a:ext cx="384048" cy="38404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47672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Definición ejecutable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194767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Brief, requisitos, HU y arquitectura como comandos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47088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1072" y="1975104"/>
            <a:ext cx="384048" cy="38404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9842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947672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Interfaz con negocio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194767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Firmables, pruebas, plan, estado y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679192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07208"/>
            <a:ext cx="384048" cy="38404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1635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7797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Diseño hasta la HU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779776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Figma normalizado, cargado solo cuando aplica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679192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1072" y="2807208"/>
            <a:ext cx="384048" cy="38404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81635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7797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Paralelismo explícito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779776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Tres modos y garantías conocidas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511296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639312"/>
            <a:ext cx="384048" cy="38404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484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611879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Multirepositorio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3611879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Tres topologías y migración guiada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3511296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072" y="3639312"/>
            <a:ext cx="384048" cy="38404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36484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3611879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Retrabajo visible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611879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amend ejecuta y registra solo el delta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343400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4471416"/>
            <a:ext cx="384048" cy="38404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8056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443984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Métrica defendible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443984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Auditoría + worklog real de Jira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4343400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291072" y="4471416"/>
            <a:ext cx="384048" cy="38404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448056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9712" y="4443984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Autoverificación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49056" y="4443984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Doce checks evitan degradación silenciosa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175504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5303520"/>
            <a:ext cx="384048" cy="38404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1266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5276088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Segundo motor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9504" y="5276088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Human-first elegible por historia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175504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91072" y="5303520"/>
            <a:ext cx="384048" cy="38404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1072" y="531266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9712" y="5276088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49056" y="5276088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Plugins, semver y release reproducible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CONTINUIDAD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Lo que no se tocó es tan importante como lo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compatibilidad conceptual permite evolucionar sin obligar al equipo a reaprender el núcleo.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975104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956816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92024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OpenSpec sigue debajo</a:t>
            </a:r>
          </a:p>
        </p:txBody>
      </p:sp>
      <p:sp>
        <p:nvSpPr>
          <p:cNvPr id="10" name="Oval 9"/>
          <p:cNvSpPr/>
          <p:nvPr/>
        </p:nvSpPr>
        <p:spPr>
          <a:xfrm>
            <a:off x="6236207" y="1975104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956816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7" y="192024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3 macrofases y 4 roles originales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2779776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2491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Pre-flight humano antes de actuar</a:t>
            </a:r>
          </a:p>
        </p:txBody>
      </p:sp>
      <p:sp>
        <p:nvSpPr>
          <p:cNvPr id="16" name="Oval 15"/>
          <p:cNvSpPr/>
          <p:nvPr/>
        </p:nvSpPr>
        <p:spPr>
          <a:xfrm>
            <a:off x="6236207" y="2779776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7" y="2761488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7" y="272491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Auditoría append-only en openspec/audit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" y="3584448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66160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52958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AGENTS.md como ancla idempotente</a:t>
            </a:r>
          </a:p>
        </p:txBody>
      </p:sp>
      <p:sp>
        <p:nvSpPr>
          <p:cNvPr id="22" name="Oval 21"/>
          <p:cNvSpPr/>
          <p:nvPr/>
        </p:nvSpPr>
        <p:spPr>
          <a:xfrm>
            <a:off x="6236207" y="3584448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3566160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7" y="352958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Referencias con carga diferida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4389120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370832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433425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Alias native-ai siguen funcionando</a:t>
            </a:r>
          </a:p>
        </p:txBody>
      </p:sp>
      <p:sp>
        <p:nvSpPr>
          <p:cNvPr id="28" name="Oval 27"/>
          <p:cNvSpPr/>
          <p:nvPr/>
        </p:nvSpPr>
        <p:spPr>
          <a:xfrm>
            <a:off x="6236207" y="4389120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7" y="4370832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9127" y="433425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9 principios fundacionales conservados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49240"/>
            <a:ext cx="10863072" cy="713232"/>
          </a:xfrm>
          <a:prstGeom prst="roundRect">
            <a:avLst/>
          </a:prstGeom>
          <a:solidFill>
            <a:srgbClr val="DDF2EE"/>
          </a:solidFill>
          <a:ln w="12700"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5495544"/>
            <a:ext cx="1036929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28"/>
              </a:spcAft>
              <a:defRPr sz="1070" b="1">
                <a:solidFill>
                  <a:srgbClr val="17324D"/>
                </a:solidFill>
                <a:latin typeface="Arial"/>
              </a:defRPr>
            </a:pPr>
            <a:r>
              <a:t>Prueba de continuidad: ninguna mejora necesita negar «especificar antes de implementar»; amplía dónde empieza, dónde termina o quién ejecuta.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HONESTIDAD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precio de la evolución — y la evidencia usada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Más capacidad implica más superficie, deuda documental y una adopción que debe ser deliberada.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401568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64008" cy="1993392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COSTE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134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Más piezas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16352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3 skills y 7 comandos se leen en una tarde. 34 skills y 6 plugins exigen arquitectura de adopción, ownership y formación.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874519"/>
            <a:ext cx="3401568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3087" y="1874519"/>
            <a:ext cx="64008" cy="1993392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0391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COSTE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134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Dos velocidades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16352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La metodología troncal va por detrás de capacidades ya operativas en AISDD, AIBA, AIAD y AIFG.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9248" y="1874519"/>
            <a:ext cx="3895344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9248" y="1874519"/>
            <a:ext cx="64008" cy="199339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18704" y="2039112"/>
            <a:ext cx="351129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RESPUESTA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4" y="2313432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Adopción por capas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18704" y="2816352"/>
            <a:ext cx="3511296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Núcleo primero; negocio, diseño y human-first solo cuando el proyecto puede convertirlos en valor.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0520"/>
            <a:ext cx="11027664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38912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FUENTES DE CONTRASTE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7168" y="4315968"/>
            <a:ext cx="8714232" cy="51206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1"/>
              </a:spcAft>
              <a:defRPr sz="1010" b="1">
                <a:solidFill>
                  <a:srgbClr val="17324D"/>
                </a:solidFill>
                <a:latin typeface="Arial"/>
              </a:defRPr>
            </a:pPr>
            <a:r>
              <a:t>ai-native.md v2.0 · native-ai-specs v1.6.0 · marketplace.json · plugin.json · 34 SKILL.md · metodologías AIDD/AISDD/AIBA/AIAD · 12 check_*.py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010912"/>
            <a:ext cx="10405872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71808E"/>
                </a:solidFill>
                <a:latin typeface="Arial"/>
              </a:defRPr>
            </a:pPr>
            <a:r>
              <a:t>Corte de datos: 09/09/2026 · Marketplace VERSION 1.46.1 · Las cifras son conteos; las valoraciones cualitativas son interpretación del equipo.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16168"/>
            <a:ext cx="11027664" cy="347472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980176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4"/>
              </a:spcAft>
              <a:defRPr sz="869" b="1">
                <a:solidFill>
                  <a:srgbClr val="FFFFFF"/>
                </a:solidFill>
                <a:latin typeface="Arial"/>
              </a:defRPr>
            </a:pPr>
            <a:r>
              <a:t>CONCLUSIÓN  ·  Native AI conserva su promesa original y ahora puede sostenerla desde la conversación con el cliente hasta la decisión basada en evidencia.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Evolución de Native AI — resumen ejecutivo</dc:title>
  <dc:subject>Comparativa entre la metodología original, native-ai-specs v1.6.0 y el marketplace</dc:subject>
  <dc:creator>NTT DATA Spain GDN-e</dc:creator>
  <cp:keywords>Native AI, AIDD, AISDD, AIBA, AIAD, AIFG, ejecutivo</cp:keywords>
  <dc:description>Generado de forma reproducible con generate.py. Issue #47.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