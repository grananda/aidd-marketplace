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16A9C7"/>
                </a:solidFill>
                <a:latin typeface="Arial"/>
              </a:defRPr>
            </a:pPr>
            <a:r>
              <a:t>NTT DATA SPAIN · GDN-e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07008"/>
            <a:ext cx="10881360" cy="146304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480"/>
              </a:spcAft>
              <a:defRPr sz="4000" b="1">
                <a:solidFill>
                  <a:srgbClr val="FFFFFF"/>
                </a:solidFill>
                <a:latin typeface="Arial"/>
              </a:defRPr>
            </a:pPr>
            <a:r>
              <a:t>Recibimos un método.</a:t>
            </a:r>
          </a:p>
          <a:p>
            <a:pPr algn="l">
              <a:lnSpc>
                <a:spcPct val="100000"/>
              </a:lnSpc>
              <a:spcAft>
                <a:spcPts val="480"/>
              </a:spcAft>
              <a:defRPr sz="4000" b="1">
                <a:solidFill>
                  <a:srgbClr val="FFFFFF"/>
                </a:solidFill>
                <a:latin typeface="Arial"/>
              </a:defRPr>
            </a:pPr>
            <a:r>
              <a:t>Devolvimos una cadena de entrega.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62656"/>
            <a:ext cx="8778240" cy="7315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68"/>
              </a:spcAft>
              <a:defRPr sz="1400" b="0">
                <a:solidFill>
                  <a:srgbClr val="C6D6E3"/>
                </a:solidFill>
                <a:latin typeface="Arial"/>
              </a:defRPr>
            </a:pPr>
            <a:r>
              <a:t>Native AI nos dio una forma de trabajar con IA. La hemos usado en proyectos con clientes reales, hemos tapado lo que faltaba y lo hemos devuelto convertido en algo que cualquier equipo del grupo instala en un comando.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059936"/>
            <a:ext cx="3401568" cy="1481328"/>
          </a:xfrm>
          <a:prstGeom prst="roundRect">
            <a:avLst/>
          </a:prstGeom>
          <a:solidFill>
            <a:srgbClr val="143B59"/>
          </a:solidFill>
          <a:ln w="12700">
            <a:solidFill>
              <a:srgbClr val="2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61104"/>
            <a:ext cx="2852928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455"/>
              </a:spcAft>
              <a:defRPr sz="3800" b="1">
                <a:solidFill>
                  <a:srgbClr val="16A9C7"/>
                </a:solidFill>
                <a:latin typeface="Arial"/>
              </a:defRPr>
            </a:pPr>
            <a: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956048"/>
            <a:ext cx="2852928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FFFFFF"/>
                </a:solidFill>
                <a:latin typeface="Arial"/>
              </a:defRPr>
            </a:pPr>
            <a:r>
              <a:t>HERRAMIENTAS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230368"/>
            <a:ext cx="2852928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0">
                <a:solidFill>
                  <a:srgbClr val="7292A9"/>
                </a:solidFill>
                <a:latin typeface="Arial"/>
              </a:defRPr>
            </a:pPr>
            <a:r>
              <a:t>eran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4059936"/>
            <a:ext cx="3401568" cy="1481328"/>
          </a:xfrm>
          <a:prstGeom prst="roundRect">
            <a:avLst/>
          </a:prstGeom>
          <a:solidFill>
            <a:srgbClr val="143B59"/>
          </a:solidFill>
          <a:ln w="12700">
            <a:solidFill>
              <a:srgbClr val="2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4261104"/>
            <a:ext cx="2852928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455"/>
              </a:spcAft>
              <a:defRPr sz="3800" b="1">
                <a:solidFill>
                  <a:srgbClr val="008F83"/>
                </a:solidFill>
                <a:latin typeface="Arial"/>
              </a:defRPr>
            </a:pPr>
            <a:r>
              <a:t>8 de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4956048"/>
            <a:ext cx="2852928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FFFFFF"/>
                </a:solidFill>
                <a:latin typeface="Arial"/>
              </a:defRPr>
            </a:pPr>
            <a:r>
              <a:t>TRAMOS DEL PROYECTO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5230368"/>
            <a:ext cx="2852928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0">
                <a:solidFill>
                  <a:srgbClr val="7292A9"/>
                </a:solidFill>
                <a:latin typeface="Arial"/>
              </a:defRPr>
            </a:pPr>
            <a:r>
              <a:t>eran 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4059936"/>
            <a:ext cx="3401568" cy="1481328"/>
          </a:xfrm>
          <a:prstGeom prst="roundRect">
            <a:avLst/>
          </a:prstGeom>
          <a:solidFill>
            <a:srgbClr val="143B59"/>
          </a:solidFill>
          <a:ln w="12700">
            <a:solidFill>
              <a:srgbClr val="2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4261104"/>
            <a:ext cx="2852928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455"/>
              </a:spcAft>
              <a:defRPr sz="3800" b="1">
                <a:solidFill>
                  <a:srgbClr val="E8792E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956048"/>
            <a:ext cx="2852928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FFFFFF"/>
                </a:solidFill>
                <a:latin typeface="Arial"/>
              </a:defRPr>
            </a:pPr>
            <a:r>
              <a:t>PLUGINS INSTALABLES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230368"/>
            <a:ext cx="2852928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0">
                <a:solidFill>
                  <a:srgbClr val="7292A9"/>
                </a:solidFill>
                <a:latin typeface="Arial"/>
              </a:defRPr>
            </a:pPr>
            <a:r>
              <a:t>no existían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704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0">
                <a:solidFill>
                  <a:srgbClr val="7292A9"/>
                </a:solidFill>
                <a:latin typeface="Arial"/>
              </a:defRPr>
            </a:pPr>
            <a:r>
              <a:t>El detalle, mejora a mejora, está en el informe: evolucion-native-ai.html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A9B4BE"/>
                </a:solidFill>
                <a:latin typeface="Arial"/>
              </a:defRPr>
            </a:pPr>
            <a:r>
              <a:t>Marketplace VERSION 1.46.1 · 6 plugins · 34 skills · 41 comandos · cifras contadas sobre los ficheros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A9B4BE"/>
                </a:solidFill>
                <a:latin typeface="Arial"/>
              </a:defRPr>
            </a:pPr>
            <a:r>
              <a:t>01 /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El método cubría tres de los ocho tramos. Hoy cubre los ocho.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Cada tramo de un proyecto, y quién tenía herramienta para ejecutarlo.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87168" y="1883664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883664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REQUISITOS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5152" y="1883664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DISEÑO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24144" y="1883664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3136" y="1883664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7" y="1883664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VALIDACIÓN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883664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ENTREGA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40112" y="1883664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MEDICIÓN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359152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6"/>
              </a:spcAft>
              <a:defRPr sz="1300" b="1">
                <a:solidFill>
                  <a:srgbClr val="17324D"/>
                </a:solidFill>
                <a:latin typeface="Arial"/>
              </a:defRPr>
            </a:pPr>
            <a:r>
              <a:t>Lo que recibimos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706624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A9B4BE"/>
                </a:solidFill>
                <a:latin typeface="Arial"/>
              </a:defRPr>
            </a:pPr>
            <a:r>
              <a:t>3 de 8 tramos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87168" y="2212848"/>
            <a:ext cx="996695" cy="841248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66160" y="2212848"/>
            <a:ext cx="996695" cy="841248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45152" y="2212848"/>
            <a:ext cx="996695" cy="841248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24144" y="2212848"/>
            <a:ext cx="996695" cy="841248"/>
          </a:xfrm>
          <a:prstGeom prst="roundRect">
            <a:avLst/>
          </a:prstGeom>
          <a:solidFill>
            <a:srgbClr val="A9B4BE"/>
          </a:solidFill>
          <a:ln w="12700">
            <a:solidFill>
              <a:srgbClr val="A9B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144" y="2487168"/>
            <a:ext cx="996695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3136" y="2212848"/>
            <a:ext cx="996695" cy="841248"/>
          </a:xfrm>
          <a:prstGeom prst="roundRect">
            <a:avLst/>
          </a:prstGeom>
          <a:solidFill>
            <a:srgbClr val="A9B4BE"/>
          </a:solidFill>
          <a:ln w="12700">
            <a:solidFill>
              <a:srgbClr val="A9B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2487168"/>
            <a:ext cx="996695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82127" y="2212848"/>
            <a:ext cx="996695" cy="841248"/>
          </a:xfrm>
          <a:prstGeom prst="roundRect">
            <a:avLst/>
          </a:prstGeom>
          <a:solidFill>
            <a:srgbClr val="A9B4BE"/>
          </a:solidFill>
          <a:ln w="12700">
            <a:solidFill>
              <a:srgbClr val="A9B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82127" y="2487168"/>
            <a:ext cx="996695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2212848"/>
            <a:ext cx="996695" cy="841248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40112" y="2212848"/>
            <a:ext cx="996695" cy="841248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29584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6"/>
              </a:spcAft>
              <a:defRPr sz="1300" b="1">
                <a:solidFill>
                  <a:srgbClr val="17324D"/>
                </a:solidFill>
                <a:latin typeface="Arial"/>
              </a:defRPr>
            </a:pPr>
            <a:r>
              <a:t>Lo que hay hoy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3877056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008F83"/>
                </a:solidFill>
                <a:latin typeface="Arial"/>
              </a:defRPr>
            </a:pPr>
            <a:r>
              <a:t>8 de 8 tramos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487168" y="3383280"/>
            <a:ext cx="996695" cy="841248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87168" y="3657600"/>
            <a:ext cx="996695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66160" y="3383280"/>
            <a:ext cx="996695" cy="841248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66160" y="3657600"/>
            <a:ext cx="996695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45152" y="3383280"/>
            <a:ext cx="996695" cy="841248"/>
          </a:xfrm>
          <a:prstGeom prst="round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45152" y="3657600"/>
            <a:ext cx="996695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24144" y="3383280"/>
            <a:ext cx="996695" cy="841248"/>
          </a:xfrm>
          <a:prstGeom prst="round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4144" y="3657600"/>
            <a:ext cx="996695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03136" y="3383280"/>
            <a:ext cx="996695" cy="841248"/>
          </a:xfrm>
          <a:prstGeom prst="round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03136" y="3657600"/>
            <a:ext cx="996695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82127" y="3383280"/>
            <a:ext cx="996695" cy="841248"/>
          </a:xfrm>
          <a:prstGeom prst="round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82127" y="3657600"/>
            <a:ext cx="996695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383280"/>
            <a:ext cx="996695" cy="841248"/>
          </a:xfrm>
          <a:prstGeom prst="round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61120" y="3657600"/>
            <a:ext cx="996695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040112" y="3383280"/>
            <a:ext cx="996695" cy="841248"/>
          </a:xfrm>
          <a:prstGeom prst="round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40112" y="3657600"/>
            <a:ext cx="996695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4828032"/>
            <a:ext cx="10972800" cy="9692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" y="5029200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  <a:defRPr sz="1250" b="1">
                <a:solidFill>
                  <a:srgbClr val="E8792E"/>
                </a:solidFill>
                <a:latin typeface="Arial"/>
              </a:defRPr>
            </a:pPr>
            <a:r>
              <a:t>Lo importante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5358384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31"/>
              </a:spcAft>
              <a:defRPr sz="1100" b="0">
                <a:solidFill>
                  <a:srgbClr val="17324D"/>
                </a:solidFill>
                <a:latin typeface="Arial"/>
              </a:defRPr>
            </a:pPr>
            <a:r>
              <a:t>No inventamos nada que el método no dijera. Cogimos sus guiones manuales y los convertimos en herramienta — y añadimos los dos tramos que le faltaban: entrega y medición.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94360" y="5943600"/>
            <a:ext cx="10972800" cy="420624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" y="6016752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FFFFFF"/>
                </a:solidFill>
                <a:latin typeface="Arial"/>
              </a:defRPr>
            </a:pPr>
            <a:r>
              <a:t>El detalle, mejora a mejora, está en el informe: evolucion-native-ai.html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Ocho tramos operativos de brief a medición · «lo definía» no equivale a «tenía herramienta»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LO CONSTRUIDO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Del cliente que firma al KPI que se defiende, en cuatro eslabones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Seis plugins que se instalan por separado. Se coge lo que el proyecto necesita y se quita igual de fácil.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56816"/>
            <a:ext cx="2615184" cy="17739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956816"/>
            <a:ext cx="2615184" cy="73152"/>
          </a:xfrm>
          <a:prstGeom prst="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19456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71808E"/>
                </a:solidFill>
                <a:latin typeface="Arial"/>
              </a:defRPr>
            </a:pPr>
            <a:r>
              <a:t>EL CLIENTE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871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92"/>
              </a:spcAft>
              <a:defRPr sz="1600" b="1">
                <a:solidFill>
                  <a:srgbClr val="0072BC"/>
                </a:solidFill>
                <a:latin typeface="Arial"/>
              </a:defRPr>
            </a:pPr>
            <a:r>
              <a:t>AIDD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962656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  <a:defRPr sz="1000" b="0">
                <a:solidFill>
                  <a:srgbClr val="3F556A"/>
                </a:solidFill>
                <a:latin typeface="Arial"/>
              </a:defRPr>
            </a:pPr>
            <a:r>
              <a:t>Brief, requisitos, historias y arquitectura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218688" y="2724912"/>
            <a:ext cx="256032" cy="237744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83280" y="1956816"/>
            <a:ext cx="2615184" cy="17739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956816"/>
            <a:ext cx="2615184" cy="73152"/>
          </a:xfrm>
          <a:prstGeom prst="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2736" y="219456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71808E"/>
                </a:solidFill>
                <a:latin typeface="Arial"/>
              </a:defRPr>
            </a:pPr>
            <a:r>
              <a:t>EL DISEÑO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24871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92"/>
              </a:spcAft>
              <a:defRPr sz="1600" b="1">
                <a:solidFill>
                  <a:srgbClr val="16A9C7"/>
                </a:solidFill>
                <a:latin typeface="Arial"/>
              </a:defRPr>
            </a:pPr>
            <a:r>
              <a:t>AIFG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2962656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  <a:defRPr sz="1000" b="0">
                <a:solidFill>
                  <a:srgbClr val="3F556A"/>
                </a:solidFill>
                <a:latin typeface="Arial"/>
              </a:defRPr>
            </a:pPr>
            <a:r>
              <a:t>Figma normalizado hasta la historia que lo implementa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035040" y="2724912"/>
            <a:ext cx="256032" cy="237744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99632" y="1956816"/>
            <a:ext cx="2615184" cy="17739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1956816"/>
            <a:ext cx="2615184" cy="73152"/>
          </a:xfrm>
          <a:prstGeom prst="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219456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71808E"/>
                </a:solidFill>
                <a:latin typeface="Arial"/>
              </a:defRPr>
            </a:pPr>
            <a:r>
              <a:t>EL CÓDIGO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24871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92"/>
              </a:spcAft>
              <a:defRPr sz="1600" b="1">
                <a:solidFill>
                  <a:srgbClr val="008F83"/>
                </a:solidFill>
                <a:latin typeface="Arial"/>
              </a:defRPr>
            </a:pPr>
            <a:r>
              <a:t>AISDD · AIAD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2962656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  <a:defRPr sz="1000" b="0">
                <a:solidFill>
                  <a:srgbClr val="3F556A"/>
                </a:solidFill>
                <a:latin typeface="Arial"/>
              </a:defRPr>
            </a:pPr>
            <a:r>
              <a:t>La IA implementa, o lo escribe la persona: se elige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851392" y="2724912"/>
            <a:ext cx="256032" cy="237744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015984" y="1956816"/>
            <a:ext cx="2615184" cy="17739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15984" y="1956816"/>
            <a:ext cx="2615184" cy="73152"/>
          </a:xfrm>
          <a:prstGeom prst="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40" y="219456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71808E"/>
                </a:solidFill>
                <a:latin typeface="Arial"/>
              </a:defRPr>
            </a:pPr>
            <a:r>
              <a:t>LA EVIDENCIA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871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92"/>
              </a:spcAft>
              <a:defRPr sz="1600" b="1">
                <a:solidFill>
                  <a:srgbClr val="E8792E"/>
                </a:solidFill>
                <a:latin typeface="Arial"/>
              </a:defRPr>
            </a:pPr>
            <a:r>
              <a:t>AIBA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962656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  <a:defRPr sz="1000" b="0">
                <a:solidFill>
                  <a:srgbClr val="3F556A"/>
                </a:solidFill>
                <a:latin typeface="Arial"/>
              </a:defRPr>
            </a:pPr>
            <a:r>
              <a:t>Documento firmable, plan, informe y KPIs medidos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3950208"/>
            <a:ext cx="11064240" cy="896112"/>
          </a:xfrm>
          <a:prstGeom prst="roundRect">
            <a:avLst/>
          </a:prstGeom>
          <a:solidFill>
            <a:srgbClr val="DCEEF8"/>
          </a:solidFill>
          <a:ln w="12700"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1148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0072BC"/>
                </a:solidFill>
                <a:latin typeface="Arial"/>
              </a:defRPr>
            </a:pPr>
            <a:r>
              <a:t>UNA SOLA FUENTE DE VERDAD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4425696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17324D"/>
                </a:solidFill>
                <a:latin typeface="Arial"/>
              </a:defRPr>
            </a:pPr>
            <a:r>
              <a:t>Los cuatro leen y escriben los mismos documentos versionados. Lo que firma el cliente y lo que ejecuta la IA salen del mismo sitio, así que no pueden contradecirse.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047488"/>
            <a:ext cx="2615184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5175504"/>
            <a:ext cx="1005840" cy="53035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263"/>
              </a:spcAft>
              <a:defRPr sz="2200" b="1">
                <a:solidFill>
                  <a:srgbClr val="17324D"/>
                </a:solidFill>
                <a:latin typeface="Arial"/>
              </a:defRPr>
            </a:pPr>
            <a:r>
              <a:t>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0512" y="5175504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71808E"/>
                </a:solidFill>
                <a:latin typeface="Arial"/>
              </a:defRPr>
            </a:pPr>
            <a:r>
              <a:t>herramientas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83280" y="5047488"/>
            <a:ext cx="2615184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02736" y="5175504"/>
            <a:ext cx="1005840" cy="53035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263"/>
              </a:spcAft>
              <a:defRPr sz="2200" b="1">
                <a:solidFill>
                  <a:srgbClr val="17324D"/>
                </a:solidFill>
                <a:latin typeface="Arial"/>
              </a:defRPr>
            </a:pPr>
            <a:r>
              <a:t>41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26864" y="5175504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71808E"/>
                </a:solidFill>
                <a:latin typeface="Arial"/>
              </a:defRPr>
            </a:pPr>
            <a:r>
              <a:t>comandos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99632" y="5047488"/>
            <a:ext cx="2615184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19088" y="5175504"/>
            <a:ext cx="1005840" cy="53035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263"/>
              </a:spcAft>
              <a:defRPr sz="2200" b="1">
                <a:solidFill>
                  <a:srgbClr val="17324D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43216" y="5175504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71808E"/>
                </a:solidFill>
                <a:latin typeface="Arial"/>
              </a:defRPr>
            </a:pPr>
            <a:r>
              <a:t>plugins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15984" y="5047488"/>
            <a:ext cx="2615184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5440" y="5175504"/>
            <a:ext cx="1005840" cy="53035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263"/>
              </a:spcAft>
              <a:defRPr sz="2200" b="1">
                <a:solidFill>
                  <a:srgbClr val="17324D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59567" y="5175504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71808E"/>
                </a:solidFill>
                <a:latin typeface="Arial"/>
              </a:defRPr>
            </a:pPr>
            <a:r>
              <a:t>controles en CI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5980176"/>
            <a:ext cx="11064240" cy="420624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1248" y="605332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FFFFFF"/>
                </a:solidFill>
                <a:latin typeface="Arial"/>
              </a:defRPr>
            </a:pPr>
            <a:r>
              <a:t>El detalle, mejora a mejora, está en el informe: evolucion-native-ai.html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EL SALTO, 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Seis cosas que hoy el método hace mejor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En azul, lo que el método ya daba. En ámbar, lo que hemos sumado encima.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0" y="1828800"/>
            <a:ext cx="201168" cy="146304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82128" y="1792224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Lo que ya daba el método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10928" y="1828800"/>
            <a:ext cx="201168" cy="146304"/>
          </a:xfrm>
          <a:prstGeom prst="round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3536" y="1792224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Lo que hemos sumado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176272"/>
            <a:ext cx="2285999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r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Que cada paso tenga herramienta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17520" y="2194560"/>
            <a:ext cx="8549640" cy="219456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017520" y="2194560"/>
            <a:ext cx="3419856" cy="219456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64808" y="2194560"/>
            <a:ext cx="5129784" cy="219456"/>
          </a:xfrm>
          <a:prstGeom prst="round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7520" y="2468879"/>
            <a:ext cx="854964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3"/>
              </a:spcAft>
              <a:defRPr sz="860" b="0">
                <a:solidFill>
                  <a:srgbClr val="71808E"/>
                </a:solidFill>
                <a:latin typeface="Arial"/>
              </a:defRPr>
            </a:pPr>
            <a:r>
              <a:t>El método ya describía todos los pasos. Nosotros hemos hecho las herramientas que faltaban.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798064"/>
            <a:ext cx="2285999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r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Enseñar resultados al cliente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2816352"/>
            <a:ext cx="8549640" cy="219456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017520" y="2816352"/>
            <a:ext cx="7523683" cy="219456"/>
          </a:xfrm>
          <a:prstGeom prst="round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17520" y="3090672"/>
            <a:ext cx="854964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3"/>
              </a:spcAft>
              <a:defRPr sz="860" b="0">
                <a:solidFill>
                  <a:srgbClr val="71808E"/>
                </a:solidFill>
                <a:latin typeface="Arial"/>
              </a:defRPr>
            </a:pPr>
            <a:r>
              <a:t>No era su cometido. Ahora se genera el documento que el cliente firma y el informe de avance.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419856"/>
            <a:ext cx="2285999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r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Varias personas a la vez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17520" y="3438144"/>
            <a:ext cx="8549640" cy="219456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017520" y="3438144"/>
            <a:ext cx="3419856" cy="219456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64808" y="3438144"/>
            <a:ext cx="3419856" cy="219456"/>
          </a:xfrm>
          <a:prstGeom prst="round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3712463"/>
            <a:ext cx="854964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3"/>
              </a:spcAft>
              <a:defRPr sz="860" b="0">
                <a:solidFill>
                  <a:srgbClr val="71808E"/>
                </a:solidFill>
                <a:latin typeface="Arial"/>
              </a:defRPr>
            </a:pPr>
            <a:r>
              <a:t>Ya repartía el trabajo entre varios. Ahora, además, comprueba que nadie se pise.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041648"/>
            <a:ext cx="2285999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r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Saber lo que ha costado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17520" y="4059936"/>
            <a:ext cx="8549640" cy="219456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17520" y="4059936"/>
            <a:ext cx="4274820" cy="219456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319771" y="4059936"/>
            <a:ext cx="3419856" cy="219456"/>
          </a:xfrm>
          <a:prstGeom prst="round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17520" y="4334256"/>
            <a:ext cx="854964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3"/>
              </a:spcAft>
              <a:defRPr sz="860" b="0">
                <a:solidFill>
                  <a:srgbClr val="71808E"/>
                </a:solidFill>
                <a:latin typeface="Arial"/>
              </a:defRPr>
            </a:pPr>
            <a:r>
              <a:t>Él ya lo registraba todo, que es la parte difícil. Nosotros lo hemos convertido en cifras.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4663440"/>
            <a:ext cx="2285999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r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Encajar en el proyecto del cliente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017520" y="4681728"/>
            <a:ext cx="8549640" cy="219456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017520" y="4681728"/>
            <a:ext cx="2564892" cy="219456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609844" y="4681728"/>
            <a:ext cx="4274820" cy="219456"/>
          </a:xfrm>
          <a:prstGeom prst="round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17520" y="4956048"/>
            <a:ext cx="854964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3"/>
              </a:spcAft>
              <a:defRPr sz="860" b="0">
                <a:solidFill>
                  <a:srgbClr val="71808E"/>
                </a:solidFill>
                <a:latin typeface="Arial"/>
              </a:defRPr>
            </a:pPr>
            <a:r>
              <a:t>Pensado para un proyecto en un sitio. Ahora admite los repositorios que el cliente tenga.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5285231"/>
            <a:ext cx="2285999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r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Que escriba la persona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017520" y="5303520"/>
            <a:ext cx="8549640" cy="219456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017520" y="5303520"/>
            <a:ext cx="7523683" cy="219456"/>
          </a:xfrm>
          <a:prstGeom prst="round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017520" y="5577840"/>
            <a:ext cx="854964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3"/>
              </a:spcAft>
              <a:defRPr sz="860" b="0">
                <a:solidFill>
                  <a:srgbClr val="71808E"/>
                </a:solidFill>
                <a:latin typeface="Arial"/>
              </a:defRPr>
            </a:pPr>
            <a:r>
              <a:t>No era su planteamiento. Hoy es una opción que se elige tarea a tarea.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5888736"/>
            <a:ext cx="1106424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" y="5980176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13"/>
              </a:spcAft>
              <a:defRPr sz="950" b="0">
                <a:solidFill>
                  <a:srgbClr val="3F556A"/>
                </a:solidFill>
                <a:latin typeface="Arial"/>
              </a:defRPr>
            </a:pPr>
            <a:r>
              <a:t>Valoración del equipo, no una medición: lo que cuenta es el tramo ámbar. Donde no hay tramo azul no es que el método fallara, es que eso no entraba en lo que se propuso resolver.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El detalle, mejora a mejora, está en el informe: evolucion-native-ai.html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LO QUE CAMBIA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Cuatro cosas que antes no podíamos hacer delante de un cliente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El método terminaba en el código validado. Ahora llega hasta lo que el cliente firma y la cifra con la que nos juzga.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75104"/>
            <a:ext cx="5358384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975104"/>
            <a:ext cx="73152" cy="1664208"/>
          </a:xfrm>
          <a:prstGeom prst="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2231136"/>
            <a:ext cx="402336" cy="402336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249424"/>
            <a:ext cx="402336" cy="36576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23113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92"/>
              </a:spcAft>
              <a:defRPr sz="1600" b="1">
                <a:solidFill>
                  <a:srgbClr val="17324D"/>
                </a:solidFill>
                <a:latin typeface="Arial"/>
              </a:defRPr>
            </a:pPr>
            <a:r>
              <a:t>El cliente firma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2761488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El diseño funcional, el plan de pruebas y el de sprints se generan desde la misma fuente que el código. Antes se hacían a mano en Word y Excel.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2784" y="1975104"/>
            <a:ext cx="5358384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2784" y="1975104"/>
            <a:ext cx="73152" cy="1664208"/>
          </a:xfrm>
          <a:prstGeom prst="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2231136"/>
            <a:ext cx="402336" cy="402336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249424"/>
            <a:ext cx="402336" cy="36576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2" y="223113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92"/>
              </a:spcAft>
              <a:defRPr sz="1600" b="1">
                <a:solidFill>
                  <a:srgbClr val="17324D"/>
                </a:solidFill>
                <a:latin typeface="Arial"/>
              </a:defRPr>
            </a:pPr>
            <a:r>
              <a:t>Las cifras se sostienen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5472" y="2761488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Los KPIs se cruzan con el worklog real de Jira. Lo medido se distingue de lo estimado, y lo que no se sostiene no se publica.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58768"/>
            <a:ext cx="5358384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3858768"/>
            <a:ext cx="73152" cy="1664208"/>
          </a:xfrm>
          <a:prstGeom prst="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4114800"/>
            <a:ext cx="402336" cy="402336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4133088"/>
            <a:ext cx="402336" cy="36576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99616" y="41148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92"/>
              </a:spcAft>
              <a:defRPr sz="1600" b="1">
                <a:solidFill>
                  <a:srgbClr val="17324D"/>
                </a:solidFill>
                <a:latin typeface="Arial"/>
              </a:defRPr>
            </a:pPr>
            <a:r>
              <a:t>El método se vigila solo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99616" y="4645152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Doce controles en cada cambio impiden que se degrade en silencio. Antes dependía de que alguien se acordara de revisarlo.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72784" y="3858768"/>
            <a:ext cx="5358384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72784" y="3858768"/>
            <a:ext cx="73152" cy="1664208"/>
          </a:xfrm>
          <a:prstGeom prst="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83680" y="4114800"/>
            <a:ext cx="402336" cy="402336"/>
          </a:xfrm>
          <a:prstGeom prst="ellipse">
            <a:avLst/>
          </a:prstGeom>
          <a:solidFill>
            <a:srgbClr val="16A9C7"/>
          </a:solidFill>
          <a:ln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133088"/>
            <a:ext cx="402336" cy="36576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5472" y="41148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92"/>
              </a:spcAft>
              <a:defRPr sz="1600" b="1">
                <a:solidFill>
                  <a:srgbClr val="17324D"/>
                </a:solidFill>
                <a:latin typeface="Arial"/>
              </a:defRPr>
            </a:pPr>
            <a:r>
              <a:t>Escala sin reescribirse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05472" y="4645152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Funciona con uno o con varios repositorios, con varias personas a la vez y en tres herramientas distintas de IA.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797296"/>
            <a:ext cx="11064240" cy="548640"/>
          </a:xfrm>
          <a:prstGeom prst="roundRect">
            <a:avLst/>
          </a:prstGeom>
          <a:solidFill>
            <a:srgbClr val="FCE9DC"/>
          </a:solidFill>
          <a:ln w="12700">
            <a:solidFill>
              <a:srgbClr val="FCE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" y="5907024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17324D"/>
                </a:solidFill>
                <a:latin typeface="Arial"/>
              </a:defRPr>
            </a:pPr>
            <a:r>
              <a:t>En una línea  ·  El método sabía construir software sin desviarse de lo pedido. Ahora también sabe demostrarlo.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El detalle, mejora a mejora, está en el informe: evolucion-native-ai.html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DÓNDE ESTAMOS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Está en uso, se instala en un comando y sigue creciendo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No es un piloto ni una prueba de concepto: está publicado, versionado y funcionando en proyecto.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56816"/>
            <a:ext cx="3529584" cy="20482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956816"/>
            <a:ext cx="3529584" cy="73152"/>
          </a:xfrm>
          <a:prstGeom prst="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12848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8F83"/>
                </a:solidFill>
                <a:latin typeface="Arial"/>
              </a:defRPr>
            </a:pPr>
            <a:r>
              <a:t>EN USO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05456"/>
            <a:ext cx="3017520" cy="40233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92"/>
              </a:spcAft>
              <a:defRPr sz="1600" b="1">
                <a:solidFill>
                  <a:srgbClr val="17324D"/>
                </a:solidFill>
                <a:latin typeface="Arial"/>
              </a:defRPr>
            </a:pPr>
            <a:r>
              <a:t>Proyectos con cliente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35808"/>
            <a:ext cx="3017520" cy="7863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  <a:defRPr sz="1000" b="0">
                <a:solidFill>
                  <a:srgbClr val="3F556A"/>
                </a:solidFill>
                <a:latin typeface="Arial"/>
              </a:defRPr>
            </a:pPr>
            <a:r>
              <a:t>Lo que se ha construido salió de necesidades reales, no de un ejercicio interno.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956816"/>
            <a:ext cx="3529584" cy="20482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956816"/>
            <a:ext cx="3529584" cy="73152"/>
          </a:xfrm>
          <a:prstGeom prst="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212848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DISPONIBLE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505456"/>
            <a:ext cx="3017520" cy="40233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92"/>
              </a:spcAft>
              <a:defRPr sz="1600" b="1">
                <a:solidFill>
                  <a:srgbClr val="17324D"/>
                </a:solidFill>
                <a:latin typeface="Arial"/>
              </a:defRPr>
            </a:pPr>
            <a:r>
              <a:t>Para todo el grupo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035808"/>
            <a:ext cx="3017520" cy="7863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  <a:defRPr sz="1000" b="0">
                <a:solidFill>
                  <a:srgbClr val="3F556A"/>
                </a:solidFill>
                <a:latin typeface="Arial"/>
              </a:defRPr>
            </a:pPr>
            <a:r>
              <a:t>Publicado con versión propia. Un comando lo instala y otro lo quita.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5007" y="1956816"/>
            <a:ext cx="3529584" cy="20482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5007" y="1956816"/>
            <a:ext cx="3529584" cy="73152"/>
          </a:xfrm>
          <a:prstGeom prst="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9" y="2212848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16A9C7"/>
                </a:solidFill>
                <a:latin typeface="Arial"/>
              </a:defRPr>
            </a:pPr>
            <a:r>
              <a:t>POR CAPAS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39" y="2505456"/>
            <a:ext cx="3017520" cy="40233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92"/>
              </a:spcAft>
              <a:defRPr sz="1600" b="1">
                <a:solidFill>
                  <a:srgbClr val="17324D"/>
                </a:solidFill>
                <a:latin typeface="Arial"/>
              </a:defRPr>
            </a:pPr>
            <a:r>
              <a:t>Se adopta a trozos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39" y="3035808"/>
            <a:ext cx="3017520" cy="7863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  <a:defRPr sz="1000" b="0">
                <a:solidFill>
                  <a:srgbClr val="3F556A"/>
                </a:solidFill>
                <a:latin typeface="Arial"/>
              </a:defRPr>
            </a:pPr>
            <a:r>
              <a:t>Un equipo pequeño empieza con dos plugins. El resto se añade cuando duele el problema que resuelve.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206240"/>
            <a:ext cx="11064240" cy="1060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4206240"/>
            <a:ext cx="73152" cy="1060704"/>
          </a:xfrm>
          <a:prstGeom prst="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438912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E8792E"/>
                </a:solidFill>
                <a:latin typeface="Arial"/>
              </a:defRPr>
            </a:pPr>
            <a:r>
              <a:t>LO QUE FALTA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4681728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38"/>
              </a:spcAft>
              <a:defRPr sz="1150" b="0">
                <a:solidFill>
                  <a:srgbClr val="3F556A"/>
                </a:solidFill>
                <a:latin typeface="Arial"/>
              </a:defRPr>
            </a:pPr>
            <a:r>
              <a:t>La metodología escrita va por detrás de lo construido. Merece una puesta al día antes de enseñar esto fuera del equipo — y es lo único que pedimos.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449824"/>
            <a:ext cx="11064240" cy="676656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559552"/>
            <a:ext cx="2834640" cy="31089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16A9C7"/>
                </a:solidFill>
                <a:latin typeface="Arial"/>
              </a:defRPr>
            </a:pPr>
            <a:r>
              <a:t>LO QUE PROPONEMOS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5541264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56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Adoptarlo por capas en los próximos proyectos y poner al día la metodología troncal.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El detalle, mejora a mejora, está en el informe: evolucion-native-ai.html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Evolución de Native AI — resumen ejecutivo</dc:title>
  <dc:subject>Comparativa entre la metodología original, native-ai-specs v1.6.0 y el marketplace</dc:subject>
  <dc:creator>NTT DATA Spain GDN-e</dc:creator>
  <cp:keywords>Native AI, AIDD, AISDD, AIBA, AIAD, AIFG, ejecutivo</cp:keywords>
  <dc:description>Generado de forma reproducible con generate.py. Issue #47.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